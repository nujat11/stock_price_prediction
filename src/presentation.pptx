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8"/>
    <p:restoredTop sz="94681"/>
  </p:normalViewPr>
  <p:slideViewPr>
    <p:cSldViewPr snapToGrid="0" snapToObjects="1">
      <p:cViewPr varScale="1">
        <p:scale>
          <a:sx n="80" d="100"/>
          <a:sy n="80" d="100"/>
        </p:scale>
        <p:origin x="141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62.svg"/><Relationship Id="rId9" Type="http://schemas.openxmlformats.org/officeDocument/2006/relationships/image" Target="../media/image6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62.svg"/><Relationship Id="rId9" Type="http://schemas.openxmlformats.org/officeDocument/2006/relationships/image" Target="../media/image6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198555-FB0A-44AF-8302-33335CA57D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058838-51A3-4840-9F76-E6BE8157A0AB}">
      <dgm:prSet/>
      <dgm:spPr/>
      <dgm:t>
        <a:bodyPr/>
        <a:lstStyle/>
        <a:p>
          <a:r>
            <a:rPr lang="en-US"/>
            <a:t>- LSTM &amp; GRU capture long patterns.</a:t>
          </a:r>
        </a:p>
      </dgm:t>
    </dgm:pt>
    <dgm:pt modelId="{521CC503-C219-4108-9175-8FA7D8429C73}" type="parTrans" cxnId="{DC945A8F-102E-47AF-8386-BF97F73610EC}">
      <dgm:prSet/>
      <dgm:spPr/>
      <dgm:t>
        <a:bodyPr/>
        <a:lstStyle/>
        <a:p>
          <a:endParaRPr lang="en-US"/>
        </a:p>
      </dgm:t>
    </dgm:pt>
    <dgm:pt modelId="{C8DC448E-EAA2-43B8-BED6-A866D9D68693}" type="sibTrans" cxnId="{DC945A8F-102E-47AF-8386-BF97F73610EC}">
      <dgm:prSet/>
      <dgm:spPr/>
      <dgm:t>
        <a:bodyPr/>
        <a:lstStyle/>
        <a:p>
          <a:endParaRPr lang="en-US"/>
        </a:p>
      </dgm:t>
    </dgm:pt>
    <dgm:pt modelId="{9014D672-96B6-48D7-9B59-3D0EDA598DF6}">
      <dgm:prSet/>
      <dgm:spPr/>
      <dgm:t>
        <a:bodyPr/>
        <a:lstStyle/>
        <a:p>
          <a:r>
            <a:rPr lang="en-US"/>
            <a:t>- Hybrid CNN–GRU improves accuracy.</a:t>
          </a:r>
        </a:p>
      </dgm:t>
    </dgm:pt>
    <dgm:pt modelId="{6B54078D-7E1F-4044-86FC-F3524B7FBF90}" type="parTrans" cxnId="{C3029E00-64B3-4653-9A48-BE83B79D4039}">
      <dgm:prSet/>
      <dgm:spPr/>
      <dgm:t>
        <a:bodyPr/>
        <a:lstStyle/>
        <a:p>
          <a:endParaRPr lang="en-US"/>
        </a:p>
      </dgm:t>
    </dgm:pt>
    <dgm:pt modelId="{725AA0D3-5B64-42CE-93DD-B9E9F9649A64}" type="sibTrans" cxnId="{C3029E00-64B3-4653-9A48-BE83B79D4039}">
      <dgm:prSet/>
      <dgm:spPr/>
      <dgm:t>
        <a:bodyPr/>
        <a:lstStyle/>
        <a:p>
          <a:endParaRPr lang="en-US"/>
        </a:p>
      </dgm:t>
    </dgm:pt>
    <dgm:pt modelId="{7628513E-AA22-455B-8C79-BE1F6F6B2555}">
      <dgm:prSet/>
      <dgm:spPr/>
      <dgm:t>
        <a:bodyPr/>
        <a:lstStyle/>
        <a:p>
          <a:r>
            <a:rPr lang="en-US"/>
            <a:t>- Transformers strong in volatile markets.</a:t>
          </a:r>
        </a:p>
      </dgm:t>
    </dgm:pt>
    <dgm:pt modelId="{66C53ED4-73B5-472A-A06B-4620B83AFD7F}" type="parTrans" cxnId="{FF1BF93F-AF80-4857-8F59-8CB2F2330EAF}">
      <dgm:prSet/>
      <dgm:spPr/>
      <dgm:t>
        <a:bodyPr/>
        <a:lstStyle/>
        <a:p>
          <a:endParaRPr lang="en-US"/>
        </a:p>
      </dgm:t>
    </dgm:pt>
    <dgm:pt modelId="{191C0B22-BD29-4BA2-BE2D-1C75D57E98C0}" type="sibTrans" cxnId="{FF1BF93F-AF80-4857-8F59-8CB2F2330EAF}">
      <dgm:prSet/>
      <dgm:spPr/>
      <dgm:t>
        <a:bodyPr/>
        <a:lstStyle/>
        <a:p>
          <a:endParaRPr lang="en-US"/>
        </a:p>
      </dgm:t>
    </dgm:pt>
    <dgm:pt modelId="{13E245D4-9359-4E2D-9FC1-0CE173D4562C}">
      <dgm:prSet/>
      <dgm:spPr/>
      <dgm:t>
        <a:bodyPr/>
        <a:lstStyle/>
        <a:p>
          <a:r>
            <a:rPr lang="en-US"/>
            <a:t>- ARIMA struggles with nonlinear patterns.</a:t>
          </a:r>
        </a:p>
      </dgm:t>
    </dgm:pt>
    <dgm:pt modelId="{1CD4F4AE-B189-466C-BAFD-E9A37DBDAF22}" type="parTrans" cxnId="{BF2E6977-A9BA-4A97-B40E-EB042634B1EB}">
      <dgm:prSet/>
      <dgm:spPr/>
      <dgm:t>
        <a:bodyPr/>
        <a:lstStyle/>
        <a:p>
          <a:endParaRPr lang="en-US"/>
        </a:p>
      </dgm:t>
    </dgm:pt>
    <dgm:pt modelId="{6E9DC6FF-46B3-4ACD-976C-DD20C528EBA0}" type="sibTrans" cxnId="{BF2E6977-A9BA-4A97-B40E-EB042634B1EB}">
      <dgm:prSet/>
      <dgm:spPr/>
      <dgm:t>
        <a:bodyPr/>
        <a:lstStyle/>
        <a:p>
          <a:endParaRPr lang="en-US"/>
        </a:p>
      </dgm:t>
    </dgm:pt>
    <dgm:pt modelId="{C35AACC5-2A63-4FCB-998B-9DAE61E1C1E0}" type="pres">
      <dgm:prSet presAssocID="{31198555-FB0A-44AF-8302-33335CA57D78}" presName="root" presStyleCnt="0">
        <dgm:presLayoutVars>
          <dgm:dir/>
          <dgm:resizeHandles val="exact"/>
        </dgm:presLayoutVars>
      </dgm:prSet>
      <dgm:spPr/>
    </dgm:pt>
    <dgm:pt modelId="{3BE85C0C-F64F-4E49-82F8-497C674DD581}" type="pres">
      <dgm:prSet presAssocID="{13058838-51A3-4840-9F76-E6BE8157A0AB}" presName="compNode" presStyleCnt="0"/>
      <dgm:spPr/>
    </dgm:pt>
    <dgm:pt modelId="{A3EB00CA-E569-493D-B1D6-AB53801C4A85}" type="pres">
      <dgm:prSet presAssocID="{13058838-51A3-4840-9F76-E6BE8157A0AB}" presName="bgRect" presStyleLbl="bgShp" presStyleIdx="0" presStyleCnt="4"/>
      <dgm:spPr/>
    </dgm:pt>
    <dgm:pt modelId="{28B98E49-D9EA-4041-BFA4-3D267913EB27}" type="pres">
      <dgm:prSet presAssocID="{13058838-51A3-4840-9F76-E6BE8157A0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3FDEF736-7E2A-47B9-8BE3-CD9D8A2DC4E3}" type="pres">
      <dgm:prSet presAssocID="{13058838-51A3-4840-9F76-E6BE8157A0AB}" presName="spaceRect" presStyleCnt="0"/>
      <dgm:spPr/>
    </dgm:pt>
    <dgm:pt modelId="{7FA86392-FDB6-4073-A517-4CE4D21C7124}" type="pres">
      <dgm:prSet presAssocID="{13058838-51A3-4840-9F76-E6BE8157A0AB}" presName="parTx" presStyleLbl="revTx" presStyleIdx="0" presStyleCnt="4">
        <dgm:presLayoutVars>
          <dgm:chMax val="0"/>
          <dgm:chPref val="0"/>
        </dgm:presLayoutVars>
      </dgm:prSet>
      <dgm:spPr/>
    </dgm:pt>
    <dgm:pt modelId="{E1955FD5-E0FD-473C-8855-7242F2FC3ADD}" type="pres">
      <dgm:prSet presAssocID="{C8DC448E-EAA2-43B8-BED6-A866D9D68693}" presName="sibTrans" presStyleCnt="0"/>
      <dgm:spPr/>
    </dgm:pt>
    <dgm:pt modelId="{091A9A61-A175-4C3B-89E6-17BFE51C4612}" type="pres">
      <dgm:prSet presAssocID="{9014D672-96B6-48D7-9B59-3D0EDA598DF6}" presName="compNode" presStyleCnt="0"/>
      <dgm:spPr/>
    </dgm:pt>
    <dgm:pt modelId="{D6BB7307-BA48-400E-B214-DBC7790D9BBD}" type="pres">
      <dgm:prSet presAssocID="{9014D672-96B6-48D7-9B59-3D0EDA598DF6}" presName="bgRect" presStyleLbl="bgShp" presStyleIdx="1" presStyleCnt="4"/>
      <dgm:spPr/>
    </dgm:pt>
    <dgm:pt modelId="{6FEE7A3E-D463-4AA3-9A3E-3FA421F55CE0}" type="pres">
      <dgm:prSet presAssocID="{9014D672-96B6-48D7-9B59-3D0EDA598D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1527A473-4004-471B-982F-49276A1D6EB8}" type="pres">
      <dgm:prSet presAssocID="{9014D672-96B6-48D7-9B59-3D0EDA598DF6}" presName="spaceRect" presStyleCnt="0"/>
      <dgm:spPr/>
    </dgm:pt>
    <dgm:pt modelId="{D0AD5F1F-08A6-40CD-84DF-B8C132FF1294}" type="pres">
      <dgm:prSet presAssocID="{9014D672-96B6-48D7-9B59-3D0EDA598DF6}" presName="parTx" presStyleLbl="revTx" presStyleIdx="1" presStyleCnt="4">
        <dgm:presLayoutVars>
          <dgm:chMax val="0"/>
          <dgm:chPref val="0"/>
        </dgm:presLayoutVars>
      </dgm:prSet>
      <dgm:spPr/>
    </dgm:pt>
    <dgm:pt modelId="{2628E975-A0B8-4E07-9478-A6B9EA55DF3C}" type="pres">
      <dgm:prSet presAssocID="{725AA0D3-5B64-42CE-93DD-B9E9F9649A64}" presName="sibTrans" presStyleCnt="0"/>
      <dgm:spPr/>
    </dgm:pt>
    <dgm:pt modelId="{6DBDE8A6-0C4A-4DE5-8169-BC9943826C7E}" type="pres">
      <dgm:prSet presAssocID="{7628513E-AA22-455B-8C79-BE1F6F6B2555}" presName="compNode" presStyleCnt="0"/>
      <dgm:spPr/>
    </dgm:pt>
    <dgm:pt modelId="{167EFA61-4B13-4BB4-8D2F-D53DB826B871}" type="pres">
      <dgm:prSet presAssocID="{7628513E-AA22-455B-8C79-BE1F6F6B2555}" presName="bgRect" presStyleLbl="bgShp" presStyleIdx="2" presStyleCnt="4"/>
      <dgm:spPr/>
    </dgm:pt>
    <dgm:pt modelId="{CA4F85A8-B7EA-414A-A208-CECE6E7BF152}" type="pres">
      <dgm:prSet presAssocID="{7628513E-AA22-455B-8C79-BE1F6F6B25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C6D72377-E1AA-42D9-B7DE-D53878DA1AA1}" type="pres">
      <dgm:prSet presAssocID="{7628513E-AA22-455B-8C79-BE1F6F6B2555}" presName="spaceRect" presStyleCnt="0"/>
      <dgm:spPr/>
    </dgm:pt>
    <dgm:pt modelId="{117A736A-75E7-4D8C-9F94-FD14BE4B6BCF}" type="pres">
      <dgm:prSet presAssocID="{7628513E-AA22-455B-8C79-BE1F6F6B2555}" presName="parTx" presStyleLbl="revTx" presStyleIdx="2" presStyleCnt="4">
        <dgm:presLayoutVars>
          <dgm:chMax val="0"/>
          <dgm:chPref val="0"/>
        </dgm:presLayoutVars>
      </dgm:prSet>
      <dgm:spPr/>
    </dgm:pt>
    <dgm:pt modelId="{68B19F57-4B21-40DE-9F4B-82479D97B034}" type="pres">
      <dgm:prSet presAssocID="{191C0B22-BD29-4BA2-BE2D-1C75D57E98C0}" presName="sibTrans" presStyleCnt="0"/>
      <dgm:spPr/>
    </dgm:pt>
    <dgm:pt modelId="{B4EA0CB6-7D96-40A4-8C4D-AFCE384212A2}" type="pres">
      <dgm:prSet presAssocID="{13E245D4-9359-4E2D-9FC1-0CE173D4562C}" presName="compNode" presStyleCnt="0"/>
      <dgm:spPr/>
    </dgm:pt>
    <dgm:pt modelId="{7CFE5717-6CE4-4DF7-A542-5195B81FB8F1}" type="pres">
      <dgm:prSet presAssocID="{13E245D4-9359-4E2D-9FC1-0CE173D4562C}" presName="bgRect" presStyleLbl="bgShp" presStyleIdx="3" presStyleCnt="4"/>
      <dgm:spPr/>
    </dgm:pt>
    <dgm:pt modelId="{B6B0B8B3-9E0F-46B1-91E6-F01CFF8E3B75}" type="pres">
      <dgm:prSet presAssocID="{13E245D4-9359-4E2D-9FC1-0CE173D456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DDB198C3-C962-4D32-A708-2D151D58C684}" type="pres">
      <dgm:prSet presAssocID="{13E245D4-9359-4E2D-9FC1-0CE173D4562C}" presName="spaceRect" presStyleCnt="0"/>
      <dgm:spPr/>
    </dgm:pt>
    <dgm:pt modelId="{90B73984-667A-405C-8707-8871F6E4941D}" type="pres">
      <dgm:prSet presAssocID="{13E245D4-9359-4E2D-9FC1-0CE173D4562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3029E00-64B3-4653-9A48-BE83B79D4039}" srcId="{31198555-FB0A-44AF-8302-33335CA57D78}" destId="{9014D672-96B6-48D7-9B59-3D0EDA598DF6}" srcOrd="1" destOrd="0" parTransId="{6B54078D-7E1F-4044-86FC-F3524B7FBF90}" sibTransId="{725AA0D3-5B64-42CE-93DD-B9E9F9649A64}"/>
    <dgm:cxn modelId="{FF1BF93F-AF80-4857-8F59-8CB2F2330EAF}" srcId="{31198555-FB0A-44AF-8302-33335CA57D78}" destId="{7628513E-AA22-455B-8C79-BE1F6F6B2555}" srcOrd="2" destOrd="0" parTransId="{66C53ED4-73B5-472A-A06B-4620B83AFD7F}" sibTransId="{191C0B22-BD29-4BA2-BE2D-1C75D57E98C0}"/>
    <dgm:cxn modelId="{A3F7855F-50F6-4E68-8776-E48080A002B5}" type="presOf" srcId="{9014D672-96B6-48D7-9B59-3D0EDA598DF6}" destId="{D0AD5F1F-08A6-40CD-84DF-B8C132FF1294}" srcOrd="0" destOrd="0" presId="urn:microsoft.com/office/officeart/2018/2/layout/IconVerticalSolidList"/>
    <dgm:cxn modelId="{03200262-D16A-4CB0-906A-0DB6A3A76CE9}" type="presOf" srcId="{7628513E-AA22-455B-8C79-BE1F6F6B2555}" destId="{117A736A-75E7-4D8C-9F94-FD14BE4B6BCF}" srcOrd="0" destOrd="0" presId="urn:microsoft.com/office/officeart/2018/2/layout/IconVerticalSolidList"/>
    <dgm:cxn modelId="{BF2E6977-A9BA-4A97-B40E-EB042634B1EB}" srcId="{31198555-FB0A-44AF-8302-33335CA57D78}" destId="{13E245D4-9359-4E2D-9FC1-0CE173D4562C}" srcOrd="3" destOrd="0" parTransId="{1CD4F4AE-B189-466C-BAFD-E9A37DBDAF22}" sibTransId="{6E9DC6FF-46B3-4ACD-976C-DD20C528EBA0}"/>
    <dgm:cxn modelId="{3268D27E-5B2A-438A-9556-D823B4F9C3B2}" type="presOf" srcId="{31198555-FB0A-44AF-8302-33335CA57D78}" destId="{C35AACC5-2A63-4FCB-998B-9DAE61E1C1E0}" srcOrd="0" destOrd="0" presId="urn:microsoft.com/office/officeart/2018/2/layout/IconVerticalSolidList"/>
    <dgm:cxn modelId="{8447C88E-7DBB-423C-BD09-6D939B5E733B}" type="presOf" srcId="{13E245D4-9359-4E2D-9FC1-0CE173D4562C}" destId="{90B73984-667A-405C-8707-8871F6E4941D}" srcOrd="0" destOrd="0" presId="urn:microsoft.com/office/officeart/2018/2/layout/IconVerticalSolidList"/>
    <dgm:cxn modelId="{DC945A8F-102E-47AF-8386-BF97F73610EC}" srcId="{31198555-FB0A-44AF-8302-33335CA57D78}" destId="{13058838-51A3-4840-9F76-E6BE8157A0AB}" srcOrd="0" destOrd="0" parTransId="{521CC503-C219-4108-9175-8FA7D8429C73}" sibTransId="{C8DC448E-EAA2-43B8-BED6-A866D9D68693}"/>
    <dgm:cxn modelId="{87D156EB-719F-4E16-B679-8F54A83BA25C}" type="presOf" srcId="{13058838-51A3-4840-9F76-E6BE8157A0AB}" destId="{7FA86392-FDB6-4073-A517-4CE4D21C7124}" srcOrd="0" destOrd="0" presId="urn:microsoft.com/office/officeart/2018/2/layout/IconVerticalSolidList"/>
    <dgm:cxn modelId="{B5EB3EA9-95D1-4AD6-AA9F-78E01507F8B6}" type="presParOf" srcId="{C35AACC5-2A63-4FCB-998B-9DAE61E1C1E0}" destId="{3BE85C0C-F64F-4E49-82F8-497C674DD581}" srcOrd="0" destOrd="0" presId="urn:microsoft.com/office/officeart/2018/2/layout/IconVerticalSolidList"/>
    <dgm:cxn modelId="{88C81FAE-926D-439F-993F-4F2A41AEF593}" type="presParOf" srcId="{3BE85C0C-F64F-4E49-82F8-497C674DD581}" destId="{A3EB00CA-E569-493D-B1D6-AB53801C4A85}" srcOrd="0" destOrd="0" presId="urn:microsoft.com/office/officeart/2018/2/layout/IconVerticalSolidList"/>
    <dgm:cxn modelId="{943BFD9B-7E6C-4488-BD8F-F65593E1A2D4}" type="presParOf" srcId="{3BE85C0C-F64F-4E49-82F8-497C674DD581}" destId="{28B98E49-D9EA-4041-BFA4-3D267913EB27}" srcOrd="1" destOrd="0" presId="urn:microsoft.com/office/officeart/2018/2/layout/IconVerticalSolidList"/>
    <dgm:cxn modelId="{A5AE3237-9BBF-4D62-A438-8298F0DCF5FA}" type="presParOf" srcId="{3BE85C0C-F64F-4E49-82F8-497C674DD581}" destId="{3FDEF736-7E2A-47B9-8BE3-CD9D8A2DC4E3}" srcOrd="2" destOrd="0" presId="urn:microsoft.com/office/officeart/2018/2/layout/IconVerticalSolidList"/>
    <dgm:cxn modelId="{113D71EF-3409-43F0-8FBE-4E7DDD1AB448}" type="presParOf" srcId="{3BE85C0C-F64F-4E49-82F8-497C674DD581}" destId="{7FA86392-FDB6-4073-A517-4CE4D21C7124}" srcOrd="3" destOrd="0" presId="urn:microsoft.com/office/officeart/2018/2/layout/IconVerticalSolidList"/>
    <dgm:cxn modelId="{C46C1DFB-8B02-4C0A-9C9B-6FAA9CF7F345}" type="presParOf" srcId="{C35AACC5-2A63-4FCB-998B-9DAE61E1C1E0}" destId="{E1955FD5-E0FD-473C-8855-7242F2FC3ADD}" srcOrd="1" destOrd="0" presId="urn:microsoft.com/office/officeart/2018/2/layout/IconVerticalSolidList"/>
    <dgm:cxn modelId="{91384ABF-6816-4AD0-A970-17992C80D324}" type="presParOf" srcId="{C35AACC5-2A63-4FCB-998B-9DAE61E1C1E0}" destId="{091A9A61-A175-4C3B-89E6-17BFE51C4612}" srcOrd="2" destOrd="0" presId="urn:microsoft.com/office/officeart/2018/2/layout/IconVerticalSolidList"/>
    <dgm:cxn modelId="{AFDC56B1-601A-40F1-BD46-9942CEDA2794}" type="presParOf" srcId="{091A9A61-A175-4C3B-89E6-17BFE51C4612}" destId="{D6BB7307-BA48-400E-B214-DBC7790D9BBD}" srcOrd="0" destOrd="0" presId="urn:microsoft.com/office/officeart/2018/2/layout/IconVerticalSolidList"/>
    <dgm:cxn modelId="{7C8D97FE-953C-46FB-9D61-951A24B95036}" type="presParOf" srcId="{091A9A61-A175-4C3B-89E6-17BFE51C4612}" destId="{6FEE7A3E-D463-4AA3-9A3E-3FA421F55CE0}" srcOrd="1" destOrd="0" presId="urn:microsoft.com/office/officeart/2018/2/layout/IconVerticalSolidList"/>
    <dgm:cxn modelId="{6F2B4649-669C-46A2-8175-ABF74EC8A274}" type="presParOf" srcId="{091A9A61-A175-4C3B-89E6-17BFE51C4612}" destId="{1527A473-4004-471B-982F-49276A1D6EB8}" srcOrd="2" destOrd="0" presId="urn:microsoft.com/office/officeart/2018/2/layout/IconVerticalSolidList"/>
    <dgm:cxn modelId="{1457F488-46F2-4418-BDBD-7C65B83BE484}" type="presParOf" srcId="{091A9A61-A175-4C3B-89E6-17BFE51C4612}" destId="{D0AD5F1F-08A6-40CD-84DF-B8C132FF1294}" srcOrd="3" destOrd="0" presId="urn:microsoft.com/office/officeart/2018/2/layout/IconVerticalSolidList"/>
    <dgm:cxn modelId="{A528281A-AD76-47ED-B644-3BF85288B95F}" type="presParOf" srcId="{C35AACC5-2A63-4FCB-998B-9DAE61E1C1E0}" destId="{2628E975-A0B8-4E07-9478-A6B9EA55DF3C}" srcOrd="3" destOrd="0" presId="urn:microsoft.com/office/officeart/2018/2/layout/IconVerticalSolidList"/>
    <dgm:cxn modelId="{5FCBE9E1-E72F-4225-8117-056FA0ACFB0B}" type="presParOf" srcId="{C35AACC5-2A63-4FCB-998B-9DAE61E1C1E0}" destId="{6DBDE8A6-0C4A-4DE5-8169-BC9943826C7E}" srcOrd="4" destOrd="0" presId="urn:microsoft.com/office/officeart/2018/2/layout/IconVerticalSolidList"/>
    <dgm:cxn modelId="{ED4A5771-1C05-4002-9173-A63A8F56BE8B}" type="presParOf" srcId="{6DBDE8A6-0C4A-4DE5-8169-BC9943826C7E}" destId="{167EFA61-4B13-4BB4-8D2F-D53DB826B871}" srcOrd="0" destOrd="0" presId="urn:microsoft.com/office/officeart/2018/2/layout/IconVerticalSolidList"/>
    <dgm:cxn modelId="{7CF0F76D-E885-4102-B242-AA47B3279BCB}" type="presParOf" srcId="{6DBDE8A6-0C4A-4DE5-8169-BC9943826C7E}" destId="{CA4F85A8-B7EA-414A-A208-CECE6E7BF152}" srcOrd="1" destOrd="0" presId="urn:microsoft.com/office/officeart/2018/2/layout/IconVerticalSolidList"/>
    <dgm:cxn modelId="{6B7E7F04-8807-45DA-AAEA-CA5F2EB0BA94}" type="presParOf" srcId="{6DBDE8A6-0C4A-4DE5-8169-BC9943826C7E}" destId="{C6D72377-E1AA-42D9-B7DE-D53878DA1AA1}" srcOrd="2" destOrd="0" presId="urn:microsoft.com/office/officeart/2018/2/layout/IconVerticalSolidList"/>
    <dgm:cxn modelId="{FC77AF59-50FC-4365-B6F3-5B8B0F855D4E}" type="presParOf" srcId="{6DBDE8A6-0C4A-4DE5-8169-BC9943826C7E}" destId="{117A736A-75E7-4D8C-9F94-FD14BE4B6BCF}" srcOrd="3" destOrd="0" presId="urn:microsoft.com/office/officeart/2018/2/layout/IconVerticalSolidList"/>
    <dgm:cxn modelId="{2008137D-2031-44A5-991D-E6DAD2B105B2}" type="presParOf" srcId="{C35AACC5-2A63-4FCB-998B-9DAE61E1C1E0}" destId="{68B19F57-4B21-40DE-9F4B-82479D97B034}" srcOrd="5" destOrd="0" presId="urn:microsoft.com/office/officeart/2018/2/layout/IconVerticalSolidList"/>
    <dgm:cxn modelId="{42D143F4-5A58-49AE-9ED8-511A4763CFD2}" type="presParOf" srcId="{C35AACC5-2A63-4FCB-998B-9DAE61E1C1E0}" destId="{B4EA0CB6-7D96-40A4-8C4D-AFCE384212A2}" srcOrd="6" destOrd="0" presId="urn:microsoft.com/office/officeart/2018/2/layout/IconVerticalSolidList"/>
    <dgm:cxn modelId="{B5F36CE0-36A9-4693-B28B-3009041BAB41}" type="presParOf" srcId="{B4EA0CB6-7D96-40A4-8C4D-AFCE384212A2}" destId="{7CFE5717-6CE4-4DF7-A542-5195B81FB8F1}" srcOrd="0" destOrd="0" presId="urn:microsoft.com/office/officeart/2018/2/layout/IconVerticalSolidList"/>
    <dgm:cxn modelId="{49A9EA4F-B1D7-4064-99DD-5936C3F155B0}" type="presParOf" srcId="{B4EA0CB6-7D96-40A4-8C4D-AFCE384212A2}" destId="{B6B0B8B3-9E0F-46B1-91E6-F01CFF8E3B75}" srcOrd="1" destOrd="0" presId="urn:microsoft.com/office/officeart/2018/2/layout/IconVerticalSolidList"/>
    <dgm:cxn modelId="{4DEA306A-748B-41F5-82D8-975ED89A9FAD}" type="presParOf" srcId="{B4EA0CB6-7D96-40A4-8C4D-AFCE384212A2}" destId="{DDB198C3-C962-4D32-A708-2D151D58C684}" srcOrd="2" destOrd="0" presId="urn:microsoft.com/office/officeart/2018/2/layout/IconVerticalSolidList"/>
    <dgm:cxn modelId="{7E1879FF-D31E-4F62-ABA4-8CAED4B4BB99}" type="presParOf" srcId="{B4EA0CB6-7D96-40A4-8C4D-AFCE384212A2}" destId="{90B73984-667A-405C-8707-8871F6E494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45866B-C3CC-4857-B4F2-21838B30B9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FA171A5-D180-4723-8577-BDA6E79E6427}">
      <dgm:prSet/>
      <dgm:spPr/>
      <dgm:t>
        <a:bodyPr/>
        <a:lstStyle/>
        <a:p>
          <a:r>
            <a:rPr lang="en-US"/>
            <a:t>- XGBoost strong for directional forecasting.</a:t>
          </a:r>
        </a:p>
      </dgm:t>
    </dgm:pt>
    <dgm:pt modelId="{4C789C80-AB8B-4EE7-B026-A96E681C3388}" type="parTrans" cxnId="{71B44173-5507-46F4-B9D7-0EA4DB7A275D}">
      <dgm:prSet/>
      <dgm:spPr/>
      <dgm:t>
        <a:bodyPr/>
        <a:lstStyle/>
        <a:p>
          <a:endParaRPr lang="en-US"/>
        </a:p>
      </dgm:t>
    </dgm:pt>
    <dgm:pt modelId="{D55ECEEA-9179-41BD-9124-F15B60B79237}" type="sibTrans" cxnId="{71B44173-5507-46F4-B9D7-0EA4DB7A275D}">
      <dgm:prSet/>
      <dgm:spPr/>
      <dgm:t>
        <a:bodyPr/>
        <a:lstStyle/>
        <a:p>
          <a:endParaRPr lang="en-US"/>
        </a:p>
      </dgm:t>
    </dgm:pt>
    <dgm:pt modelId="{0858DD16-0EFF-4292-8DDE-0BBD0899D3A6}">
      <dgm:prSet/>
      <dgm:spPr/>
      <dgm:t>
        <a:bodyPr/>
        <a:lstStyle/>
        <a:p>
          <a:r>
            <a:rPr lang="en-US"/>
            <a:t>- ARIMA + XGBoost hybrids stable.</a:t>
          </a:r>
        </a:p>
      </dgm:t>
    </dgm:pt>
    <dgm:pt modelId="{D2154AED-D0F7-4A75-9D1A-59B5717A66E1}" type="parTrans" cxnId="{A07ED39F-7B48-42D1-AA20-D4E614B70A03}">
      <dgm:prSet/>
      <dgm:spPr/>
      <dgm:t>
        <a:bodyPr/>
        <a:lstStyle/>
        <a:p>
          <a:endParaRPr lang="en-US"/>
        </a:p>
      </dgm:t>
    </dgm:pt>
    <dgm:pt modelId="{66DE2960-B895-4AA0-8F75-F85ABF912367}" type="sibTrans" cxnId="{A07ED39F-7B48-42D1-AA20-D4E614B70A03}">
      <dgm:prSet/>
      <dgm:spPr/>
      <dgm:t>
        <a:bodyPr/>
        <a:lstStyle/>
        <a:p>
          <a:endParaRPr lang="en-US"/>
        </a:p>
      </dgm:t>
    </dgm:pt>
    <dgm:pt modelId="{9DF6D2DF-3A1C-450F-B35A-5858383D0A04}">
      <dgm:prSet/>
      <dgm:spPr/>
      <dgm:t>
        <a:bodyPr/>
        <a:lstStyle/>
        <a:p>
          <a:r>
            <a:rPr lang="en-US"/>
            <a:t>- Cross-stock learning effective.</a:t>
          </a:r>
        </a:p>
      </dgm:t>
    </dgm:pt>
    <dgm:pt modelId="{D47DF1C0-D2BB-41F9-AB01-6168CF85DCCA}" type="parTrans" cxnId="{9635E2B6-7EAA-4397-8F31-2BE97BB2AD8D}">
      <dgm:prSet/>
      <dgm:spPr/>
      <dgm:t>
        <a:bodyPr/>
        <a:lstStyle/>
        <a:p>
          <a:endParaRPr lang="en-US"/>
        </a:p>
      </dgm:t>
    </dgm:pt>
    <dgm:pt modelId="{A6686654-BB24-4CD1-A52B-60A536EBD34F}" type="sibTrans" cxnId="{9635E2B6-7EAA-4397-8F31-2BE97BB2AD8D}">
      <dgm:prSet/>
      <dgm:spPr/>
      <dgm:t>
        <a:bodyPr/>
        <a:lstStyle/>
        <a:p>
          <a:endParaRPr lang="en-US"/>
        </a:p>
      </dgm:t>
    </dgm:pt>
    <dgm:pt modelId="{40C8E642-74CE-4D7E-B1B2-778CDB6D129C}">
      <dgm:prSet/>
      <dgm:spPr/>
      <dgm:t>
        <a:bodyPr/>
        <a:lstStyle/>
        <a:p>
          <a:r>
            <a:rPr lang="en-US"/>
            <a:t>- LSTM/RNN models overfit noisy data.</a:t>
          </a:r>
        </a:p>
      </dgm:t>
    </dgm:pt>
    <dgm:pt modelId="{3693819C-C2FB-4882-BCE7-CD73CF5E336C}" type="parTrans" cxnId="{FC45AF2C-6C82-48EC-BD33-3753507A758D}">
      <dgm:prSet/>
      <dgm:spPr/>
      <dgm:t>
        <a:bodyPr/>
        <a:lstStyle/>
        <a:p>
          <a:endParaRPr lang="en-US"/>
        </a:p>
      </dgm:t>
    </dgm:pt>
    <dgm:pt modelId="{5816102B-C81C-4D52-B120-D02F1AFED8B0}" type="sibTrans" cxnId="{FC45AF2C-6C82-48EC-BD33-3753507A758D}">
      <dgm:prSet/>
      <dgm:spPr/>
      <dgm:t>
        <a:bodyPr/>
        <a:lstStyle/>
        <a:p>
          <a:endParaRPr lang="en-US"/>
        </a:p>
      </dgm:t>
    </dgm:pt>
    <dgm:pt modelId="{EEB83F81-1441-4FE2-95FB-65DACF052969}" type="pres">
      <dgm:prSet presAssocID="{F845866B-C3CC-4857-B4F2-21838B30B92A}" presName="root" presStyleCnt="0">
        <dgm:presLayoutVars>
          <dgm:dir/>
          <dgm:resizeHandles val="exact"/>
        </dgm:presLayoutVars>
      </dgm:prSet>
      <dgm:spPr/>
    </dgm:pt>
    <dgm:pt modelId="{B8A23213-4CC8-465F-931D-3F488821CF6F}" type="pres">
      <dgm:prSet presAssocID="{DFA171A5-D180-4723-8577-BDA6E79E6427}" presName="compNode" presStyleCnt="0"/>
      <dgm:spPr/>
    </dgm:pt>
    <dgm:pt modelId="{AC4BF065-2C4D-41AD-B4E0-F09768BE6997}" type="pres">
      <dgm:prSet presAssocID="{DFA171A5-D180-4723-8577-BDA6E79E6427}" presName="bgRect" presStyleLbl="bgShp" presStyleIdx="0" presStyleCnt="4"/>
      <dgm:spPr/>
    </dgm:pt>
    <dgm:pt modelId="{A7EFF76C-7962-4DA2-96A2-925504CECAE3}" type="pres">
      <dgm:prSet presAssocID="{DFA171A5-D180-4723-8577-BDA6E79E642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DD924335-AF1F-43B2-B652-A754BDC6EC13}" type="pres">
      <dgm:prSet presAssocID="{DFA171A5-D180-4723-8577-BDA6E79E6427}" presName="spaceRect" presStyleCnt="0"/>
      <dgm:spPr/>
    </dgm:pt>
    <dgm:pt modelId="{77CA8C5A-A2B9-40AC-B3D1-BF1790B04014}" type="pres">
      <dgm:prSet presAssocID="{DFA171A5-D180-4723-8577-BDA6E79E6427}" presName="parTx" presStyleLbl="revTx" presStyleIdx="0" presStyleCnt="4">
        <dgm:presLayoutVars>
          <dgm:chMax val="0"/>
          <dgm:chPref val="0"/>
        </dgm:presLayoutVars>
      </dgm:prSet>
      <dgm:spPr/>
    </dgm:pt>
    <dgm:pt modelId="{3E00BD59-0474-4737-B26B-97B98A202831}" type="pres">
      <dgm:prSet presAssocID="{D55ECEEA-9179-41BD-9124-F15B60B79237}" presName="sibTrans" presStyleCnt="0"/>
      <dgm:spPr/>
    </dgm:pt>
    <dgm:pt modelId="{3A639A21-99B7-444E-9ED3-69881CDDDA4E}" type="pres">
      <dgm:prSet presAssocID="{0858DD16-0EFF-4292-8DDE-0BBD0899D3A6}" presName="compNode" presStyleCnt="0"/>
      <dgm:spPr/>
    </dgm:pt>
    <dgm:pt modelId="{B16A8444-842F-4A71-A80A-DFB97A9B733E}" type="pres">
      <dgm:prSet presAssocID="{0858DD16-0EFF-4292-8DDE-0BBD0899D3A6}" presName="bgRect" presStyleLbl="bgShp" presStyleIdx="1" presStyleCnt="4"/>
      <dgm:spPr/>
    </dgm:pt>
    <dgm:pt modelId="{18070223-9B95-437B-862B-F86F3DE5667E}" type="pres">
      <dgm:prSet presAssocID="{0858DD16-0EFF-4292-8DDE-0BBD0899D3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F879A924-33D4-4206-AE35-F87EADCAE5E0}" type="pres">
      <dgm:prSet presAssocID="{0858DD16-0EFF-4292-8DDE-0BBD0899D3A6}" presName="spaceRect" presStyleCnt="0"/>
      <dgm:spPr/>
    </dgm:pt>
    <dgm:pt modelId="{182DAA97-D4A5-47CC-AE3E-5B1A874B3DDD}" type="pres">
      <dgm:prSet presAssocID="{0858DD16-0EFF-4292-8DDE-0BBD0899D3A6}" presName="parTx" presStyleLbl="revTx" presStyleIdx="1" presStyleCnt="4">
        <dgm:presLayoutVars>
          <dgm:chMax val="0"/>
          <dgm:chPref val="0"/>
        </dgm:presLayoutVars>
      </dgm:prSet>
      <dgm:spPr/>
    </dgm:pt>
    <dgm:pt modelId="{3A343CA3-3203-44C9-AFFD-ED6332E9EBA3}" type="pres">
      <dgm:prSet presAssocID="{66DE2960-B895-4AA0-8F75-F85ABF912367}" presName="sibTrans" presStyleCnt="0"/>
      <dgm:spPr/>
    </dgm:pt>
    <dgm:pt modelId="{E8D0033F-7152-4663-8036-57579514FEB8}" type="pres">
      <dgm:prSet presAssocID="{9DF6D2DF-3A1C-450F-B35A-5858383D0A04}" presName="compNode" presStyleCnt="0"/>
      <dgm:spPr/>
    </dgm:pt>
    <dgm:pt modelId="{88E660EF-5AE6-4B76-87D2-AAE4AF0DB6A9}" type="pres">
      <dgm:prSet presAssocID="{9DF6D2DF-3A1C-450F-B35A-5858383D0A04}" presName="bgRect" presStyleLbl="bgShp" presStyleIdx="2" presStyleCnt="4"/>
      <dgm:spPr/>
    </dgm:pt>
    <dgm:pt modelId="{60B6171B-833B-454F-91AA-ED43F9CA6DBD}" type="pres">
      <dgm:prSet presAssocID="{9DF6D2DF-3A1C-450F-B35A-5858383D0A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9B6878D5-C2FB-4BF2-B8D7-3DE072495FAC}" type="pres">
      <dgm:prSet presAssocID="{9DF6D2DF-3A1C-450F-B35A-5858383D0A04}" presName="spaceRect" presStyleCnt="0"/>
      <dgm:spPr/>
    </dgm:pt>
    <dgm:pt modelId="{67491149-2A44-4E9F-B9DC-7B022C8B020E}" type="pres">
      <dgm:prSet presAssocID="{9DF6D2DF-3A1C-450F-B35A-5858383D0A04}" presName="parTx" presStyleLbl="revTx" presStyleIdx="2" presStyleCnt="4">
        <dgm:presLayoutVars>
          <dgm:chMax val="0"/>
          <dgm:chPref val="0"/>
        </dgm:presLayoutVars>
      </dgm:prSet>
      <dgm:spPr/>
    </dgm:pt>
    <dgm:pt modelId="{332D2845-F4CA-4B91-B14C-FD14DC59781E}" type="pres">
      <dgm:prSet presAssocID="{A6686654-BB24-4CD1-A52B-60A536EBD34F}" presName="sibTrans" presStyleCnt="0"/>
      <dgm:spPr/>
    </dgm:pt>
    <dgm:pt modelId="{9DF01A91-C1EA-4F38-9BDB-B76A6BB885A0}" type="pres">
      <dgm:prSet presAssocID="{40C8E642-74CE-4D7E-B1B2-778CDB6D129C}" presName="compNode" presStyleCnt="0"/>
      <dgm:spPr/>
    </dgm:pt>
    <dgm:pt modelId="{E6B4F710-10F0-4D8D-9ED8-517EABE2077F}" type="pres">
      <dgm:prSet presAssocID="{40C8E642-74CE-4D7E-B1B2-778CDB6D129C}" presName="bgRect" presStyleLbl="bgShp" presStyleIdx="3" presStyleCnt="4"/>
      <dgm:spPr/>
    </dgm:pt>
    <dgm:pt modelId="{6C5FD9D2-5967-41E8-B73F-BFB5DD8608D8}" type="pres">
      <dgm:prSet presAssocID="{40C8E642-74CE-4D7E-B1B2-778CDB6D12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3DE347C1-BB11-4D20-B225-8D8BCE6D5AC0}" type="pres">
      <dgm:prSet presAssocID="{40C8E642-74CE-4D7E-B1B2-778CDB6D129C}" presName="spaceRect" presStyleCnt="0"/>
      <dgm:spPr/>
    </dgm:pt>
    <dgm:pt modelId="{42FF65BA-4070-490B-8E3E-D9FAA947DC53}" type="pres">
      <dgm:prSet presAssocID="{40C8E642-74CE-4D7E-B1B2-778CDB6D129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9865907-07BB-444C-B09D-7176B1053BF1}" type="presOf" srcId="{DFA171A5-D180-4723-8577-BDA6E79E6427}" destId="{77CA8C5A-A2B9-40AC-B3D1-BF1790B04014}" srcOrd="0" destOrd="0" presId="urn:microsoft.com/office/officeart/2018/2/layout/IconVerticalSolidList"/>
    <dgm:cxn modelId="{FC45AF2C-6C82-48EC-BD33-3753507A758D}" srcId="{F845866B-C3CC-4857-B4F2-21838B30B92A}" destId="{40C8E642-74CE-4D7E-B1B2-778CDB6D129C}" srcOrd="3" destOrd="0" parTransId="{3693819C-C2FB-4882-BCE7-CD73CF5E336C}" sibTransId="{5816102B-C81C-4D52-B120-D02F1AFED8B0}"/>
    <dgm:cxn modelId="{E94AEF32-0A28-4206-9CB8-8C6464628B37}" type="presOf" srcId="{0858DD16-0EFF-4292-8DDE-0BBD0899D3A6}" destId="{182DAA97-D4A5-47CC-AE3E-5B1A874B3DDD}" srcOrd="0" destOrd="0" presId="urn:microsoft.com/office/officeart/2018/2/layout/IconVerticalSolidList"/>
    <dgm:cxn modelId="{01140244-28C1-4337-BB80-907A8A47FB31}" type="presOf" srcId="{F845866B-C3CC-4857-B4F2-21838B30B92A}" destId="{EEB83F81-1441-4FE2-95FB-65DACF052969}" srcOrd="0" destOrd="0" presId="urn:microsoft.com/office/officeart/2018/2/layout/IconVerticalSolidList"/>
    <dgm:cxn modelId="{71B44173-5507-46F4-B9D7-0EA4DB7A275D}" srcId="{F845866B-C3CC-4857-B4F2-21838B30B92A}" destId="{DFA171A5-D180-4723-8577-BDA6E79E6427}" srcOrd="0" destOrd="0" parTransId="{4C789C80-AB8B-4EE7-B026-A96E681C3388}" sibTransId="{D55ECEEA-9179-41BD-9124-F15B60B79237}"/>
    <dgm:cxn modelId="{A07ED39F-7B48-42D1-AA20-D4E614B70A03}" srcId="{F845866B-C3CC-4857-B4F2-21838B30B92A}" destId="{0858DD16-0EFF-4292-8DDE-0BBD0899D3A6}" srcOrd="1" destOrd="0" parTransId="{D2154AED-D0F7-4A75-9D1A-59B5717A66E1}" sibTransId="{66DE2960-B895-4AA0-8F75-F85ABF912367}"/>
    <dgm:cxn modelId="{DC5758B3-9BDB-4DC9-91FA-4DFD07F54542}" type="presOf" srcId="{40C8E642-74CE-4D7E-B1B2-778CDB6D129C}" destId="{42FF65BA-4070-490B-8E3E-D9FAA947DC53}" srcOrd="0" destOrd="0" presId="urn:microsoft.com/office/officeart/2018/2/layout/IconVerticalSolidList"/>
    <dgm:cxn modelId="{9635E2B6-7EAA-4397-8F31-2BE97BB2AD8D}" srcId="{F845866B-C3CC-4857-B4F2-21838B30B92A}" destId="{9DF6D2DF-3A1C-450F-B35A-5858383D0A04}" srcOrd="2" destOrd="0" parTransId="{D47DF1C0-D2BB-41F9-AB01-6168CF85DCCA}" sibTransId="{A6686654-BB24-4CD1-A52B-60A536EBD34F}"/>
    <dgm:cxn modelId="{7DF8D2E3-2C0A-4132-B41A-8AB348C22FF9}" type="presOf" srcId="{9DF6D2DF-3A1C-450F-B35A-5858383D0A04}" destId="{67491149-2A44-4E9F-B9DC-7B022C8B020E}" srcOrd="0" destOrd="0" presId="urn:microsoft.com/office/officeart/2018/2/layout/IconVerticalSolidList"/>
    <dgm:cxn modelId="{71D804EA-57E0-45EE-AC75-E8269BAEFFAB}" type="presParOf" srcId="{EEB83F81-1441-4FE2-95FB-65DACF052969}" destId="{B8A23213-4CC8-465F-931D-3F488821CF6F}" srcOrd="0" destOrd="0" presId="urn:microsoft.com/office/officeart/2018/2/layout/IconVerticalSolidList"/>
    <dgm:cxn modelId="{722B87A3-AE8A-4897-B610-C8CD0ED90501}" type="presParOf" srcId="{B8A23213-4CC8-465F-931D-3F488821CF6F}" destId="{AC4BF065-2C4D-41AD-B4E0-F09768BE6997}" srcOrd="0" destOrd="0" presId="urn:microsoft.com/office/officeart/2018/2/layout/IconVerticalSolidList"/>
    <dgm:cxn modelId="{10C411EC-B32A-4325-922F-1594ACD5AB70}" type="presParOf" srcId="{B8A23213-4CC8-465F-931D-3F488821CF6F}" destId="{A7EFF76C-7962-4DA2-96A2-925504CECAE3}" srcOrd="1" destOrd="0" presId="urn:microsoft.com/office/officeart/2018/2/layout/IconVerticalSolidList"/>
    <dgm:cxn modelId="{0A088CBB-5FC8-4A3B-B692-2AB59B485FD9}" type="presParOf" srcId="{B8A23213-4CC8-465F-931D-3F488821CF6F}" destId="{DD924335-AF1F-43B2-B652-A754BDC6EC13}" srcOrd="2" destOrd="0" presId="urn:microsoft.com/office/officeart/2018/2/layout/IconVerticalSolidList"/>
    <dgm:cxn modelId="{39A80563-5FCD-4F1D-9E20-ED008CB8838C}" type="presParOf" srcId="{B8A23213-4CC8-465F-931D-3F488821CF6F}" destId="{77CA8C5A-A2B9-40AC-B3D1-BF1790B04014}" srcOrd="3" destOrd="0" presId="urn:microsoft.com/office/officeart/2018/2/layout/IconVerticalSolidList"/>
    <dgm:cxn modelId="{8F2F416B-44F4-4D72-AA24-3E49330A5B52}" type="presParOf" srcId="{EEB83F81-1441-4FE2-95FB-65DACF052969}" destId="{3E00BD59-0474-4737-B26B-97B98A202831}" srcOrd="1" destOrd="0" presId="urn:microsoft.com/office/officeart/2018/2/layout/IconVerticalSolidList"/>
    <dgm:cxn modelId="{1C0F4DE3-2066-44B1-85BD-BA2E6EF0975D}" type="presParOf" srcId="{EEB83F81-1441-4FE2-95FB-65DACF052969}" destId="{3A639A21-99B7-444E-9ED3-69881CDDDA4E}" srcOrd="2" destOrd="0" presId="urn:microsoft.com/office/officeart/2018/2/layout/IconVerticalSolidList"/>
    <dgm:cxn modelId="{A30224A9-7B16-4FE4-A852-74EFB207E15B}" type="presParOf" srcId="{3A639A21-99B7-444E-9ED3-69881CDDDA4E}" destId="{B16A8444-842F-4A71-A80A-DFB97A9B733E}" srcOrd="0" destOrd="0" presId="urn:microsoft.com/office/officeart/2018/2/layout/IconVerticalSolidList"/>
    <dgm:cxn modelId="{1637D210-ADFF-43A6-BB99-4419D0FF5EB3}" type="presParOf" srcId="{3A639A21-99B7-444E-9ED3-69881CDDDA4E}" destId="{18070223-9B95-437B-862B-F86F3DE5667E}" srcOrd="1" destOrd="0" presId="urn:microsoft.com/office/officeart/2018/2/layout/IconVerticalSolidList"/>
    <dgm:cxn modelId="{9BAE31B4-D232-4AD5-87CD-B68E32AAD130}" type="presParOf" srcId="{3A639A21-99B7-444E-9ED3-69881CDDDA4E}" destId="{F879A924-33D4-4206-AE35-F87EADCAE5E0}" srcOrd="2" destOrd="0" presId="urn:microsoft.com/office/officeart/2018/2/layout/IconVerticalSolidList"/>
    <dgm:cxn modelId="{F1551977-6105-4D58-86A4-04235A8261D8}" type="presParOf" srcId="{3A639A21-99B7-444E-9ED3-69881CDDDA4E}" destId="{182DAA97-D4A5-47CC-AE3E-5B1A874B3DDD}" srcOrd="3" destOrd="0" presId="urn:microsoft.com/office/officeart/2018/2/layout/IconVerticalSolidList"/>
    <dgm:cxn modelId="{121087D8-0970-45FB-84C7-05AA0540A484}" type="presParOf" srcId="{EEB83F81-1441-4FE2-95FB-65DACF052969}" destId="{3A343CA3-3203-44C9-AFFD-ED6332E9EBA3}" srcOrd="3" destOrd="0" presId="urn:microsoft.com/office/officeart/2018/2/layout/IconVerticalSolidList"/>
    <dgm:cxn modelId="{4A4BF9E7-4953-447C-8AFA-C7FA5686F6D5}" type="presParOf" srcId="{EEB83F81-1441-4FE2-95FB-65DACF052969}" destId="{E8D0033F-7152-4663-8036-57579514FEB8}" srcOrd="4" destOrd="0" presId="urn:microsoft.com/office/officeart/2018/2/layout/IconVerticalSolidList"/>
    <dgm:cxn modelId="{899428BB-2211-4A88-9A76-E3734E1E23D7}" type="presParOf" srcId="{E8D0033F-7152-4663-8036-57579514FEB8}" destId="{88E660EF-5AE6-4B76-87D2-AAE4AF0DB6A9}" srcOrd="0" destOrd="0" presId="urn:microsoft.com/office/officeart/2018/2/layout/IconVerticalSolidList"/>
    <dgm:cxn modelId="{07AF6BF2-80DF-4B49-BCDB-7AA0F6DC3E66}" type="presParOf" srcId="{E8D0033F-7152-4663-8036-57579514FEB8}" destId="{60B6171B-833B-454F-91AA-ED43F9CA6DBD}" srcOrd="1" destOrd="0" presId="urn:microsoft.com/office/officeart/2018/2/layout/IconVerticalSolidList"/>
    <dgm:cxn modelId="{4C6ACFB3-DB72-4498-BCAD-8CEC47740C38}" type="presParOf" srcId="{E8D0033F-7152-4663-8036-57579514FEB8}" destId="{9B6878D5-C2FB-4BF2-B8D7-3DE072495FAC}" srcOrd="2" destOrd="0" presId="urn:microsoft.com/office/officeart/2018/2/layout/IconVerticalSolidList"/>
    <dgm:cxn modelId="{D88C5C1A-C288-48BA-9FA9-E525E661005E}" type="presParOf" srcId="{E8D0033F-7152-4663-8036-57579514FEB8}" destId="{67491149-2A44-4E9F-B9DC-7B022C8B020E}" srcOrd="3" destOrd="0" presId="urn:microsoft.com/office/officeart/2018/2/layout/IconVerticalSolidList"/>
    <dgm:cxn modelId="{832F42D9-DD4A-477B-B5E3-44D244D93DC9}" type="presParOf" srcId="{EEB83F81-1441-4FE2-95FB-65DACF052969}" destId="{332D2845-F4CA-4B91-B14C-FD14DC59781E}" srcOrd="5" destOrd="0" presId="urn:microsoft.com/office/officeart/2018/2/layout/IconVerticalSolidList"/>
    <dgm:cxn modelId="{42D3E06D-496A-451D-9FA2-FD674536206B}" type="presParOf" srcId="{EEB83F81-1441-4FE2-95FB-65DACF052969}" destId="{9DF01A91-C1EA-4F38-9BDB-B76A6BB885A0}" srcOrd="6" destOrd="0" presId="urn:microsoft.com/office/officeart/2018/2/layout/IconVerticalSolidList"/>
    <dgm:cxn modelId="{39D2449F-F7D0-4190-87C1-44E7A92E5752}" type="presParOf" srcId="{9DF01A91-C1EA-4F38-9BDB-B76A6BB885A0}" destId="{E6B4F710-10F0-4D8D-9ED8-517EABE2077F}" srcOrd="0" destOrd="0" presId="urn:microsoft.com/office/officeart/2018/2/layout/IconVerticalSolidList"/>
    <dgm:cxn modelId="{1CCDB1AC-2C37-4643-9815-561CFFEAF83C}" type="presParOf" srcId="{9DF01A91-C1EA-4F38-9BDB-B76A6BB885A0}" destId="{6C5FD9D2-5967-41E8-B73F-BFB5DD8608D8}" srcOrd="1" destOrd="0" presId="urn:microsoft.com/office/officeart/2018/2/layout/IconVerticalSolidList"/>
    <dgm:cxn modelId="{D1A3E9E5-6006-49FB-87CB-3A200FF7CF96}" type="presParOf" srcId="{9DF01A91-C1EA-4F38-9BDB-B76A6BB885A0}" destId="{3DE347C1-BB11-4D20-B225-8D8BCE6D5AC0}" srcOrd="2" destOrd="0" presId="urn:microsoft.com/office/officeart/2018/2/layout/IconVerticalSolidList"/>
    <dgm:cxn modelId="{6DE42DE2-B515-44D4-91DC-2D63EDAA8C15}" type="presParOf" srcId="{9DF01A91-C1EA-4F38-9BDB-B76A6BB885A0}" destId="{42FF65BA-4070-490B-8E3E-D9FAA947DC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B51EC8-6F1A-48DB-ADB0-A7C3799157D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E0FED1-87F6-4525-B40D-C2DA08C36B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ADF test for stationarity.</a:t>
          </a:r>
        </a:p>
      </dgm:t>
    </dgm:pt>
    <dgm:pt modelId="{38B7C8B0-A3DD-49A2-9BA4-651BAE82CC6B}" type="parTrans" cxnId="{243D683D-B6E0-4FCE-8E67-FAA495DD87C4}">
      <dgm:prSet/>
      <dgm:spPr/>
      <dgm:t>
        <a:bodyPr/>
        <a:lstStyle/>
        <a:p>
          <a:endParaRPr lang="en-US"/>
        </a:p>
      </dgm:t>
    </dgm:pt>
    <dgm:pt modelId="{A75A2DF1-4D1D-4D46-96C3-09E9BC8BF4A1}" type="sibTrans" cxnId="{243D683D-B6E0-4FCE-8E67-FAA495DD87C4}">
      <dgm:prSet/>
      <dgm:spPr/>
      <dgm:t>
        <a:bodyPr/>
        <a:lstStyle/>
        <a:p>
          <a:endParaRPr lang="en-US"/>
        </a:p>
      </dgm:t>
    </dgm:pt>
    <dgm:pt modelId="{17D9E2C0-7326-4334-BAB4-ED9A5E97D0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PP test for unit root.</a:t>
          </a:r>
        </a:p>
      </dgm:t>
    </dgm:pt>
    <dgm:pt modelId="{EE615D04-1F49-4777-93EC-CF73C49D6C26}" type="parTrans" cxnId="{6F058171-0EB5-4AFD-BFBA-488AD0D10031}">
      <dgm:prSet/>
      <dgm:spPr/>
      <dgm:t>
        <a:bodyPr/>
        <a:lstStyle/>
        <a:p>
          <a:endParaRPr lang="en-US"/>
        </a:p>
      </dgm:t>
    </dgm:pt>
    <dgm:pt modelId="{819C5CD1-A73E-4B72-9B2B-C8463DFFB3BD}" type="sibTrans" cxnId="{6F058171-0EB5-4AFD-BFBA-488AD0D10031}">
      <dgm:prSet/>
      <dgm:spPr/>
      <dgm:t>
        <a:bodyPr/>
        <a:lstStyle/>
        <a:p>
          <a:endParaRPr lang="en-US"/>
        </a:p>
      </dgm:t>
    </dgm:pt>
    <dgm:pt modelId="{300B690F-12D9-42B7-B2ED-92922D2B58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CUSUM/Chow for structural breaks.</a:t>
          </a:r>
        </a:p>
      </dgm:t>
    </dgm:pt>
    <dgm:pt modelId="{2EFD7FED-F9BA-4A6A-A056-85E01A1547C5}" type="parTrans" cxnId="{8127472A-B314-4706-9AB6-626112F2006A}">
      <dgm:prSet/>
      <dgm:spPr/>
      <dgm:t>
        <a:bodyPr/>
        <a:lstStyle/>
        <a:p>
          <a:endParaRPr lang="en-US"/>
        </a:p>
      </dgm:t>
    </dgm:pt>
    <dgm:pt modelId="{6B9B72E2-4BA5-4A6D-B9D8-3357EA57D19B}" type="sibTrans" cxnId="{8127472A-B314-4706-9AB6-626112F2006A}">
      <dgm:prSet/>
      <dgm:spPr/>
      <dgm:t>
        <a:bodyPr/>
        <a:lstStyle/>
        <a:p>
          <a:endParaRPr lang="en-US"/>
        </a:p>
      </dgm:t>
    </dgm:pt>
    <dgm:pt modelId="{FEBD8634-397A-429F-BD94-2DC3BB8FD981}" type="pres">
      <dgm:prSet presAssocID="{98B51EC8-6F1A-48DB-ADB0-A7C3799157D2}" presName="root" presStyleCnt="0">
        <dgm:presLayoutVars>
          <dgm:dir/>
          <dgm:resizeHandles val="exact"/>
        </dgm:presLayoutVars>
      </dgm:prSet>
      <dgm:spPr/>
    </dgm:pt>
    <dgm:pt modelId="{0C14F878-CB52-4A8E-93DE-06943D19B740}" type="pres">
      <dgm:prSet presAssocID="{96E0FED1-87F6-4525-B40D-C2DA08C36B7D}" presName="compNode" presStyleCnt="0"/>
      <dgm:spPr/>
    </dgm:pt>
    <dgm:pt modelId="{445E8508-8465-4ABC-9BAE-CFC85D6390C8}" type="pres">
      <dgm:prSet presAssocID="{96E0FED1-87F6-4525-B40D-C2DA08C36B7D}" presName="bgRect" presStyleLbl="bgShp" presStyleIdx="0" presStyleCnt="3"/>
      <dgm:spPr/>
    </dgm:pt>
    <dgm:pt modelId="{B75BD0EA-A179-4DBD-8380-40271C6FFECB}" type="pres">
      <dgm:prSet presAssocID="{96E0FED1-87F6-4525-B40D-C2DA08C36B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87FC38F-D6C3-4674-A7C5-E1450CA6157A}" type="pres">
      <dgm:prSet presAssocID="{96E0FED1-87F6-4525-B40D-C2DA08C36B7D}" presName="spaceRect" presStyleCnt="0"/>
      <dgm:spPr/>
    </dgm:pt>
    <dgm:pt modelId="{055DA5D3-3462-4B0C-95D0-4102CDBADF8C}" type="pres">
      <dgm:prSet presAssocID="{96E0FED1-87F6-4525-B40D-C2DA08C36B7D}" presName="parTx" presStyleLbl="revTx" presStyleIdx="0" presStyleCnt="3">
        <dgm:presLayoutVars>
          <dgm:chMax val="0"/>
          <dgm:chPref val="0"/>
        </dgm:presLayoutVars>
      </dgm:prSet>
      <dgm:spPr/>
    </dgm:pt>
    <dgm:pt modelId="{A3BFF9FA-D7B2-463A-8C90-3520C92B0824}" type="pres">
      <dgm:prSet presAssocID="{A75A2DF1-4D1D-4D46-96C3-09E9BC8BF4A1}" presName="sibTrans" presStyleCnt="0"/>
      <dgm:spPr/>
    </dgm:pt>
    <dgm:pt modelId="{78D6B080-6DB8-449F-8C5D-ABC16680D273}" type="pres">
      <dgm:prSet presAssocID="{17D9E2C0-7326-4334-BAB4-ED9A5E97D053}" presName="compNode" presStyleCnt="0"/>
      <dgm:spPr/>
    </dgm:pt>
    <dgm:pt modelId="{68BD59BE-5901-42E8-A607-6B8E8B0BA28B}" type="pres">
      <dgm:prSet presAssocID="{17D9E2C0-7326-4334-BAB4-ED9A5E97D053}" presName="bgRect" presStyleLbl="bgShp" presStyleIdx="1" presStyleCnt="3"/>
      <dgm:spPr/>
    </dgm:pt>
    <dgm:pt modelId="{4B2C5503-62B8-4914-844F-A13771996989}" type="pres">
      <dgm:prSet presAssocID="{17D9E2C0-7326-4334-BAB4-ED9A5E97D0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232A5E92-0B4B-4BFB-8E26-3776A3985D0A}" type="pres">
      <dgm:prSet presAssocID="{17D9E2C0-7326-4334-BAB4-ED9A5E97D053}" presName="spaceRect" presStyleCnt="0"/>
      <dgm:spPr/>
    </dgm:pt>
    <dgm:pt modelId="{2C9CA3B1-936F-43F3-B64F-DC73DDA5CA7F}" type="pres">
      <dgm:prSet presAssocID="{17D9E2C0-7326-4334-BAB4-ED9A5E97D053}" presName="parTx" presStyleLbl="revTx" presStyleIdx="1" presStyleCnt="3">
        <dgm:presLayoutVars>
          <dgm:chMax val="0"/>
          <dgm:chPref val="0"/>
        </dgm:presLayoutVars>
      </dgm:prSet>
      <dgm:spPr/>
    </dgm:pt>
    <dgm:pt modelId="{CD970C1C-EF48-444F-8692-5B224FECF240}" type="pres">
      <dgm:prSet presAssocID="{819C5CD1-A73E-4B72-9B2B-C8463DFFB3BD}" presName="sibTrans" presStyleCnt="0"/>
      <dgm:spPr/>
    </dgm:pt>
    <dgm:pt modelId="{365F2B60-9F25-4499-861A-7D616A783C95}" type="pres">
      <dgm:prSet presAssocID="{300B690F-12D9-42B7-B2ED-92922D2B58FA}" presName="compNode" presStyleCnt="0"/>
      <dgm:spPr/>
    </dgm:pt>
    <dgm:pt modelId="{CFD16604-39B2-41AD-832F-DF321B1F39D3}" type="pres">
      <dgm:prSet presAssocID="{300B690F-12D9-42B7-B2ED-92922D2B58FA}" presName="bgRect" presStyleLbl="bgShp" presStyleIdx="2" presStyleCnt="3"/>
      <dgm:spPr/>
    </dgm:pt>
    <dgm:pt modelId="{CB449F95-4F21-44D4-A7C9-8A160FEB7A6A}" type="pres">
      <dgm:prSet presAssocID="{300B690F-12D9-42B7-B2ED-92922D2B58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E02AC4A3-8235-4F0A-96C0-EF1B6AB43E98}" type="pres">
      <dgm:prSet presAssocID="{300B690F-12D9-42B7-B2ED-92922D2B58FA}" presName="spaceRect" presStyleCnt="0"/>
      <dgm:spPr/>
    </dgm:pt>
    <dgm:pt modelId="{98D00DFE-E696-4452-B485-C963447260AD}" type="pres">
      <dgm:prSet presAssocID="{300B690F-12D9-42B7-B2ED-92922D2B58F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127472A-B314-4706-9AB6-626112F2006A}" srcId="{98B51EC8-6F1A-48DB-ADB0-A7C3799157D2}" destId="{300B690F-12D9-42B7-B2ED-92922D2B58FA}" srcOrd="2" destOrd="0" parTransId="{2EFD7FED-F9BA-4A6A-A056-85E01A1547C5}" sibTransId="{6B9B72E2-4BA5-4A6D-B9D8-3357EA57D19B}"/>
    <dgm:cxn modelId="{7231D738-9F34-4C46-859B-B53F7EA5F397}" type="presOf" srcId="{300B690F-12D9-42B7-B2ED-92922D2B58FA}" destId="{98D00DFE-E696-4452-B485-C963447260AD}" srcOrd="0" destOrd="0" presId="urn:microsoft.com/office/officeart/2018/2/layout/IconVerticalSolidList"/>
    <dgm:cxn modelId="{243D683D-B6E0-4FCE-8E67-FAA495DD87C4}" srcId="{98B51EC8-6F1A-48DB-ADB0-A7C3799157D2}" destId="{96E0FED1-87F6-4525-B40D-C2DA08C36B7D}" srcOrd="0" destOrd="0" parTransId="{38B7C8B0-A3DD-49A2-9BA4-651BAE82CC6B}" sibTransId="{A75A2DF1-4D1D-4D46-96C3-09E9BC8BF4A1}"/>
    <dgm:cxn modelId="{6F058171-0EB5-4AFD-BFBA-488AD0D10031}" srcId="{98B51EC8-6F1A-48DB-ADB0-A7C3799157D2}" destId="{17D9E2C0-7326-4334-BAB4-ED9A5E97D053}" srcOrd="1" destOrd="0" parTransId="{EE615D04-1F49-4777-93EC-CF73C49D6C26}" sibTransId="{819C5CD1-A73E-4B72-9B2B-C8463DFFB3BD}"/>
    <dgm:cxn modelId="{DEA38559-F74B-4238-8465-63E03095A54E}" type="presOf" srcId="{17D9E2C0-7326-4334-BAB4-ED9A5E97D053}" destId="{2C9CA3B1-936F-43F3-B64F-DC73DDA5CA7F}" srcOrd="0" destOrd="0" presId="urn:microsoft.com/office/officeart/2018/2/layout/IconVerticalSolidList"/>
    <dgm:cxn modelId="{1E3770F8-58A2-4765-BB3A-ED86526FB1C4}" type="presOf" srcId="{96E0FED1-87F6-4525-B40D-C2DA08C36B7D}" destId="{055DA5D3-3462-4B0C-95D0-4102CDBADF8C}" srcOrd="0" destOrd="0" presId="urn:microsoft.com/office/officeart/2018/2/layout/IconVerticalSolidList"/>
    <dgm:cxn modelId="{552714FF-3C96-44A2-BBEC-ACFB47749F50}" type="presOf" srcId="{98B51EC8-6F1A-48DB-ADB0-A7C3799157D2}" destId="{FEBD8634-397A-429F-BD94-2DC3BB8FD981}" srcOrd="0" destOrd="0" presId="urn:microsoft.com/office/officeart/2018/2/layout/IconVerticalSolidList"/>
    <dgm:cxn modelId="{46C6394C-14AA-4735-9FC6-D36F01E4FE88}" type="presParOf" srcId="{FEBD8634-397A-429F-BD94-2DC3BB8FD981}" destId="{0C14F878-CB52-4A8E-93DE-06943D19B740}" srcOrd="0" destOrd="0" presId="urn:microsoft.com/office/officeart/2018/2/layout/IconVerticalSolidList"/>
    <dgm:cxn modelId="{3B2F5AE8-3AFD-4474-BC3E-3A2D001D2F69}" type="presParOf" srcId="{0C14F878-CB52-4A8E-93DE-06943D19B740}" destId="{445E8508-8465-4ABC-9BAE-CFC85D6390C8}" srcOrd="0" destOrd="0" presId="urn:microsoft.com/office/officeart/2018/2/layout/IconVerticalSolidList"/>
    <dgm:cxn modelId="{4C7FAC12-1D35-4A6E-B4F8-0515D82B4853}" type="presParOf" srcId="{0C14F878-CB52-4A8E-93DE-06943D19B740}" destId="{B75BD0EA-A179-4DBD-8380-40271C6FFECB}" srcOrd="1" destOrd="0" presId="urn:microsoft.com/office/officeart/2018/2/layout/IconVerticalSolidList"/>
    <dgm:cxn modelId="{75173A83-BFBC-40E0-B787-7DA3331A9C1A}" type="presParOf" srcId="{0C14F878-CB52-4A8E-93DE-06943D19B740}" destId="{387FC38F-D6C3-4674-A7C5-E1450CA6157A}" srcOrd="2" destOrd="0" presId="urn:microsoft.com/office/officeart/2018/2/layout/IconVerticalSolidList"/>
    <dgm:cxn modelId="{59846E47-167F-49B6-B6EE-7F0A4DC94562}" type="presParOf" srcId="{0C14F878-CB52-4A8E-93DE-06943D19B740}" destId="{055DA5D3-3462-4B0C-95D0-4102CDBADF8C}" srcOrd="3" destOrd="0" presId="urn:microsoft.com/office/officeart/2018/2/layout/IconVerticalSolidList"/>
    <dgm:cxn modelId="{B236BBFF-42AD-4806-9748-41BEE828B37F}" type="presParOf" srcId="{FEBD8634-397A-429F-BD94-2DC3BB8FD981}" destId="{A3BFF9FA-D7B2-463A-8C90-3520C92B0824}" srcOrd="1" destOrd="0" presId="urn:microsoft.com/office/officeart/2018/2/layout/IconVerticalSolidList"/>
    <dgm:cxn modelId="{0B26EE67-52FF-4CE4-B934-F6A991B5B566}" type="presParOf" srcId="{FEBD8634-397A-429F-BD94-2DC3BB8FD981}" destId="{78D6B080-6DB8-449F-8C5D-ABC16680D273}" srcOrd="2" destOrd="0" presId="urn:microsoft.com/office/officeart/2018/2/layout/IconVerticalSolidList"/>
    <dgm:cxn modelId="{A28B6E9C-F1EF-4CF6-93E3-ABE2AFDF2B56}" type="presParOf" srcId="{78D6B080-6DB8-449F-8C5D-ABC16680D273}" destId="{68BD59BE-5901-42E8-A607-6B8E8B0BA28B}" srcOrd="0" destOrd="0" presId="urn:microsoft.com/office/officeart/2018/2/layout/IconVerticalSolidList"/>
    <dgm:cxn modelId="{6987AF65-817D-413C-AE5E-C7F9738F68F7}" type="presParOf" srcId="{78D6B080-6DB8-449F-8C5D-ABC16680D273}" destId="{4B2C5503-62B8-4914-844F-A13771996989}" srcOrd="1" destOrd="0" presId="urn:microsoft.com/office/officeart/2018/2/layout/IconVerticalSolidList"/>
    <dgm:cxn modelId="{0B85373A-8F92-432F-83DD-BB0382A4978D}" type="presParOf" srcId="{78D6B080-6DB8-449F-8C5D-ABC16680D273}" destId="{232A5E92-0B4B-4BFB-8E26-3776A3985D0A}" srcOrd="2" destOrd="0" presId="urn:microsoft.com/office/officeart/2018/2/layout/IconVerticalSolidList"/>
    <dgm:cxn modelId="{A7C6F81A-ABFB-41DE-A2C8-0CEDFB25A41A}" type="presParOf" srcId="{78D6B080-6DB8-449F-8C5D-ABC16680D273}" destId="{2C9CA3B1-936F-43F3-B64F-DC73DDA5CA7F}" srcOrd="3" destOrd="0" presId="urn:microsoft.com/office/officeart/2018/2/layout/IconVerticalSolidList"/>
    <dgm:cxn modelId="{75372304-E9B3-4E9A-9D5E-07DB76727BDA}" type="presParOf" srcId="{FEBD8634-397A-429F-BD94-2DC3BB8FD981}" destId="{CD970C1C-EF48-444F-8692-5B224FECF240}" srcOrd="3" destOrd="0" presId="urn:microsoft.com/office/officeart/2018/2/layout/IconVerticalSolidList"/>
    <dgm:cxn modelId="{29745FE6-89AD-44FC-BCC8-0486AF57374D}" type="presParOf" srcId="{FEBD8634-397A-429F-BD94-2DC3BB8FD981}" destId="{365F2B60-9F25-4499-861A-7D616A783C95}" srcOrd="4" destOrd="0" presId="urn:microsoft.com/office/officeart/2018/2/layout/IconVerticalSolidList"/>
    <dgm:cxn modelId="{D2FA7666-D508-4808-A135-53F354D9D810}" type="presParOf" srcId="{365F2B60-9F25-4499-861A-7D616A783C95}" destId="{CFD16604-39B2-41AD-832F-DF321B1F39D3}" srcOrd="0" destOrd="0" presId="urn:microsoft.com/office/officeart/2018/2/layout/IconVerticalSolidList"/>
    <dgm:cxn modelId="{68A9AABD-6D9D-404F-95CC-1349A4E4D054}" type="presParOf" srcId="{365F2B60-9F25-4499-861A-7D616A783C95}" destId="{CB449F95-4F21-44D4-A7C9-8A160FEB7A6A}" srcOrd="1" destOrd="0" presId="urn:microsoft.com/office/officeart/2018/2/layout/IconVerticalSolidList"/>
    <dgm:cxn modelId="{E504BDF0-60FC-48C6-BE99-94CA512DD420}" type="presParOf" srcId="{365F2B60-9F25-4499-861A-7D616A783C95}" destId="{E02AC4A3-8235-4F0A-96C0-EF1B6AB43E98}" srcOrd="2" destOrd="0" presId="urn:microsoft.com/office/officeart/2018/2/layout/IconVerticalSolidList"/>
    <dgm:cxn modelId="{1681B425-3A24-40C7-93CA-77B203728740}" type="presParOf" srcId="{365F2B60-9F25-4499-861A-7D616A783C95}" destId="{98D00DFE-E696-4452-B485-C963447260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4A6380-7AA1-4358-B27C-8D559B03131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6_2" csCatId="accent6" phldr="1"/>
      <dgm:spPr/>
      <dgm:t>
        <a:bodyPr/>
        <a:lstStyle/>
        <a:p>
          <a:endParaRPr lang="en-US"/>
        </a:p>
      </dgm:t>
    </dgm:pt>
    <dgm:pt modelId="{342A4032-CC5E-4B4C-8341-DCD83416A7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Trained on ALL DSE stocks.</a:t>
          </a:r>
        </a:p>
      </dgm:t>
    </dgm:pt>
    <dgm:pt modelId="{AB9994CA-0EA0-4A68-9D85-2C5DA839BBCE}" type="parTrans" cxnId="{2130BF7C-4B66-47CC-86CD-D15A50B7413D}">
      <dgm:prSet/>
      <dgm:spPr/>
      <dgm:t>
        <a:bodyPr/>
        <a:lstStyle/>
        <a:p>
          <a:endParaRPr lang="en-US"/>
        </a:p>
      </dgm:t>
    </dgm:pt>
    <dgm:pt modelId="{57F32C73-CAD9-43E2-A5BA-91E1276B0FA3}" type="sibTrans" cxnId="{2130BF7C-4B66-47CC-86CD-D15A50B7413D}">
      <dgm:prSet/>
      <dgm:spPr/>
      <dgm:t>
        <a:bodyPr/>
        <a:lstStyle/>
        <a:p>
          <a:endParaRPr lang="en-US"/>
        </a:p>
      </dgm:t>
    </dgm:pt>
    <dgm:pt modelId="{2147B49A-F7AD-419A-8EE6-988EEB6492F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Features: SMA, EMA, MACD, RSI, lags, volume.</a:t>
          </a:r>
        </a:p>
      </dgm:t>
    </dgm:pt>
    <dgm:pt modelId="{58B67989-0358-48B7-9CEA-FC3A4D94CAFD}" type="parTrans" cxnId="{98D3A783-0B76-47CE-A760-611570AC7898}">
      <dgm:prSet/>
      <dgm:spPr/>
      <dgm:t>
        <a:bodyPr/>
        <a:lstStyle/>
        <a:p>
          <a:endParaRPr lang="en-US"/>
        </a:p>
      </dgm:t>
    </dgm:pt>
    <dgm:pt modelId="{DDA4151A-087B-497B-A76C-9E8F0A7960CE}" type="sibTrans" cxnId="{98D3A783-0B76-47CE-A760-611570AC7898}">
      <dgm:prSet/>
      <dgm:spPr/>
      <dgm:t>
        <a:bodyPr/>
        <a:lstStyle/>
        <a:p>
          <a:endParaRPr lang="en-US"/>
        </a:p>
      </dgm:t>
    </dgm:pt>
    <dgm:pt modelId="{C60DF07D-FF1A-405C-AFCE-C1E1FC0764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R² = 0.9571, RMSE = 113.97.</a:t>
          </a:r>
        </a:p>
      </dgm:t>
    </dgm:pt>
    <dgm:pt modelId="{1D4CAF7E-89F8-46E3-962E-A9508C132D10}" type="parTrans" cxnId="{AFDF54C1-C23F-4C6C-B530-365D76C5628D}">
      <dgm:prSet/>
      <dgm:spPr/>
      <dgm:t>
        <a:bodyPr/>
        <a:lstStyle/>
        <a:p>
          <a:endParaRPr lang="en-US"/>
        </a:p>
      </dgm:t>
    </dgm:pt>
    <dgm:pt modelId="{EC86C015-01B8-4D28-A980-6734995C0B1F}" type="sibTrans" cxnId="{AFDF54C1-C23F-4C6C-B530-365D76C5628D}">
      <dgm:prSet/>
      <dgm:spPr/>
      <dgm:t>
        <a:bodyPr/>
        <a:lstStyle/>
        <a:p>
          <a:endParaRPr lang="en-US"/>
        </a:p>
      </dgm:t>
    </dgm:pt>
    <dgm:pt modelId="{1468C5AD-662D-4C85-BD52-81E7832FC433}" type="pres">
      <dgm:prSet presAssocID="{004A6380-7AA1-4358-B27C-8D559B03131B}" presName="root" presStyleCnt="0">
        <dgm:presLayoutVars>
          <dgm:dir/>
          <dgm:resizeHandles val="exact"/>
        </dgm:presLayoutVars>
      </dgm:prSet>
      <dgm:spPr/>
    </dgm:pt>
    <dgm:pt modelId="{B0301496-FBE4-4A6D-9842-920B80DCC262}" type="pres">
      <dgm:prSet presAssocID="{342A4032-CC5E-4B4C-8341-DCD83416A794}" presName="compNode" presStyleCnt="0"/>
      <dgm:spPr/>
    </dgm:pt>
    <dgm:pt modelId="{F339FD5F-DAD2-400F-932E-577891C874CD}" type="pres">
      <dgm:prSet presAssocID="{342A4032-CC5E-4B4C-8341-DCD83416A794}" presName="iconBgRect" presStyleLbl="bgShp" presStyleIdx="0" presStyleCnt="3"/>
      <dgm:spPr/>
    </dgm:pt>
    <dgm:pt modelId="{B1B13736-65C3-405A-9A72-73AF20730C21}" type="pres">
      <dgm:prSet presAssocID="{342A4032-CC5E-4B4C-8341-DCD83416A7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8877D33F-40EC-441C-89EB-EB24DD3F2F3E}" type="pres">
      <dgm:prSet presAssocID="{342A4032-CC5E-4B4C-8341-DCD83416A794}" presName="spaceRect" presStyleCnt="0"/>
      <dgm:spPr/>
    </dgm:pt>
    <dgm:pt modelId="{54A5F6B0-8255-4114-823F-920B417E0299}" type="pres">
      <dgm:prSet presAssocID="{342A4032-CC5E-4B4C-8341-DCD83416A794}" presName="textRect" presStyleLbl="revTx" presStyleIdx="0" presStyleCnt="3">
        <dgm:presLayoutVars>
          <dgm:chMax val="1"/>
          <dgm:chPref val="1"/>
        </dgm:presLayoutVars>
      </dgm:prSet>
      <dgm:spPr/>
    </dgm:pt>
    <dgm:pt modelId="{ECF05D10-62FC-4E79-AE99-F84677CA2E79}" type="pres">
      <dgm:prSet presAssocID="{57F32C73-CAD9-43E2-A5BA-91E1276B0FA3}" presName="sibTrans" presStyleCnt="0"/>
      <dgm:spPr/>
    </dgm:pt>
    <dgm:pt modelId="{539D3649-4029-45FD-A219-30A0E5CC0A46}" type="pres">
      <dgm:prSet presAssocID="{2147B49A-F7AD-419A-8EE6-988EEB6492F9}" presName="compNode" presStyleCnt="0"/>
      <dgm:spPr/>
    </dgm:pt>
    <dgm:pt modelId="{883811E5-EC5A-4132-951A-534054BE5509}" type="pres">
      <dgm:prSet presAssocID="{2147B49A-F7AD-419A-8EE6-988EEB6492F9}" presName="iconBgRect" presStyleLbl="bgShp" presStyleIdx="1" presStyleCnt="3"/>
      <dgm:spPr/>
    </dgm:pt>
    <dgm:pt modelId="{96E710AC-42BB-48CB-81DF-0C701E7AF96A}" type="pres">
      <dgm:prSet presAssocID="{2147B49A-F7AD-419A-8EE6-988EEB6492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C66321A-7625-46A7-BCDA-6E89F0FA5C7B}" type="pres">
      <dgm:prSet presAssocID="{2147B49A-F7AD-419A-8EE6-988EEB6492F9}" presName="spaceRect" presStyleCnt="0"/>
      <dgm:spPr/>
    </dgm:pt>
    <dgm:pt modelId="{2AE43283-D82A-461A-822D-6A6D4A5CC09D}" type="pres">
      <dgm:prSet presAssocID="{2147B49A-F7AD-419A-8EE6-988EEB6492F9}" presName="textRect" presStyleLbl="revTx" presStyleIdx="1" presStyleCnt="3">
        <dgm:presLayoutVars>
          <dgm:chMax val="1"/>
          <dgm:chPref val="1"/>
        </dgm:presLayoutVars>
      </dgm:prSet>
      <dgm:spPr/>
    </dgm:pt>
    <dgm:pt modelId="{96BB9CF2-4175-4B7F-A652-7331310F2313}" type="pres">
      <dgm:prSet presAssocID="{DDA4151A-087B-497B-A76C-9E8F0A7960CE}" presName="sibTrans" presStyleCnt="0"/>
      <dgm:spPr/>
    </dgm:pt>
    <dgm:pt modelId="{81823C6F-5BDE-4C02-8D83-C62B64848F6E}" type="pres">
      <dgm:prSet presAssocID="{C60DF07D-FF1A-405C-AFCE-C1E1FC0764F1}" presName="compNode" presStyleCnt="0"/>
      <dgm:spPr/>
    </dgm:pt>
    <dgm:pt modelId="{617350C3-EA00-4BA0-BCB0-C86B4645184C}" type="pres">
      <dgm:prSet presAssocID="{C60DF07D-FF1A-405C-AFCE-C1E1FC0764F1}" presName="iconBgRect" presStyleLbl="bgShp" presStyleIdx="2" presStyleCnt="3"/>
      <dgm:spPr/>
    </dgm:pt>
    <dgm:pt modelId="{A9F0C982-5DE2-4B34-BBA3-960380371849}" type="pres">
      <dgm:prSet presAssocID="{C60DF07D-FF1A-405C-AFCE-C1E1FC0764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B5B279DD-8F53-42AA-8C94-2739F7E09C89}" type="pres">
      <dgm:prSet presAssocID="{C60DF07D-FF1A-405C-AFCE-C1E1FC0764F1}" presName="spaceRect" presStyleCnt="0"/>
      <dgm:spPr/>
    </dgm:pt>
    <dgm:pt modelId="{CDC3B3BB-27C2-4810-A8F8-B146AF6E17F5}" type="pres">
      <dgm:prSet presAssocID="{C60DF07D-FF1A-405C-AFCE-C1E1FC0764F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BD014A-EF0D-DE49-93BB-36B4F8991AE0}" type="presOf" srcId="{004A6380-7AA1-4358-B27C-8D559B03131B}" destId="{1468C5AD-662D-4C85-BD52-81E7832FC433}" srcOrd="0" destOrd="0" presId="urn:microsoft.com/office/officeart/2018/5/layout/IconCircleLabelList"/>
    <dgm:cxn modelId="{2130BF7C-4B66-47CC-86CD-D15A50B7413D}" srcId="{004A6380-7AA1-4358-B27C-8D559B03131B}" destId="{342A4032-CC5E-4B4C-8341-DCD83416A794}" srcOrd="0" destOrd="0" parTransId="{AB9994CA-0EA0-4A68-9D85-2C5DA839BBCE}" sibTransId="{57F32C73-CAD9-43E2-A5BA-91E1276B0FA3}"/>
    <dgm:cxn modelId="{236EB681-569F-2047-93AF-5F9B9B77D6BB}" type="presOf" srcId="{2147B49A-F7AD-419A-8EE6-988EEB6492F9}" destId="{2AE43283-D82A-461A-822D-6A6D4A5CC09D}" srcOrd="0" destOrd="0" presId="urn:microsoft.com/office/officeart/2018/5/layout/IconCircleLabelList"/>
    <dgm:cxn modelId="{98D3A783-0B76-47CE-A760-611570AC7898}" srcId="{004A6380-7AA1-4358-B27C-8D559B03131B}" destId="{2147B49A-F7AD-419A-8EE6-988EEB6492F9}" srcOrd="1" destOrd="0" parTransId="{58B67989-0358-48B7-9CEA-FC3A4D94CAFD}" sibTransId="{DDA4151A-087B-497B-A76C-9E8F0A7960CE}"/>
    <dgm:cxn modelId="{48C5A487-F75F-7146-ABC3-59C0E7C267EA}" type="presOf" srcId="{342A4032-CC5E-4B4C-8341-DCD83416A794}" destId="{54A5F6B0-8255-4114-823F-920B417E0299}" srcOrd="0" destOrd="0" presId="urn:microsoft.com/office/officeart/2018/5/layout/IconCircleLabelList"/>
    <dgm:cxn modelId="{AFDF54C1-C23F-4C6C-B530-365D76C5628D}" srcId="{004A6380-7AA1-4358-B27C-8D559B03131B}" destId="{C60DF07D-FF1A-405C-AFCE-C1E1FC0764F1}" srcOrd="2" destOrd="0" parTransId="{1D4CAF7E-89F8-46E3-962E-A9508C132D10}" sibTransId="{EC86C015-01B8-4D28-A980-6734995C0B1F}"/>
    <dgm:cxn modelId="{722207FD-63A0-0D46-82BA-D7AA1A00D8F0}" type="presOf" srcId="{C60DF07D-FF1A-405C-AFCE-C1E1FC0764F1}" destId="{CDC3B3BB-27C2-4810-A8F8-B146AF6E17F5}" srcOrd="0" destOrd="0" presId="urn:microsoft.com/office/officeart/2018/5/layout/IconCircleLabelList"/>
    <dgm:cxn modelId="{BF3FC508-03F8-4D4F-94F8-AFAE9B305180}" type="presParOf" srcId="{1468C5AD-662D-4C85-BD52-81E7832FC433}" destId="{B0301496-FBE4-4A6D-9842-920B80DCC262}" srcOrd="0" destOrd="0" presId="urn:microsoft.com/office/officeart/2018/5/layout/IconCircleLabelList"/>
    <dgm:cxn modelId="{D61F3DCB-B96E-404C-96BA-D416CFDD0592}" type="presParOf" srcId="{B0301496-FBE4-4A6D-9842-920B80DCC262}" destId="{F339FD5F-DAD2-400F-932E-577891C874CD}" srcOrd="0" destOrd="0" presId="urn:microsoft.com/office/officeart/2018/5/layout/IconCircleLabelList"/>
    <dgm:cxn modelId="{1C7147A4-D00F-E149-BEED-1ABAD7872E9F}" type="presParOf" srcId="{B0301496-FBE4-4A6D-9842-920B80DCC262}" destId="{B1B13736-65C3-405A-9A72-73AF20730C21}" srcOrd="1" destOrd="0" presId="urn:microsoft.com/office/officeart/2018/5/layout/IconCircleLabelList"/>
    <dgm:cxn modelId="{71BEEAB4-4929-4349-8390-24E911C8F2B5}" type="presParOf" srcId="{B0301496-FBE4-4A6D-9842-920B80DCC262}" destId="{8877D33F-40EC-441C-89EB-EB24DD3F2F3E}" srcOrd="2" destOrd="0" presId="urn:microsoft.com/office/officeart/2018/5/layout/IconCircleLabelList"/>
    <dgm:cxn modelId="{E76200D8-8E40-8C40-8163-649369B45BCD}" type="presParOf" srcId="{B0301496-FBE4-4A6D-9842-920B80DCC262}" destId="{54A5F6B0-8255-4114-823F-920B417E0299}" srcOrd="3" destOrd="0" presId="urn:microsoft.com/office/officeart/2018/5/layout/IconCircleLabelList"/>
    <dgm:cxn modelId="{08A41E8F-5EAE-8744-B464-F2A3BE11CA2E}" type="presParOf" srcId="{1468C5AD-662D-4C85-BD52-81E7832FC433}" destId="{ECF05D10-62FC-4E79-AE99-F84677CA2E79}" srcOrd="1" destOrd="0" presId="urn:microsoft.com/office/officeart/2018/5/layout/IconCircleLabelList"/>
    <dgm:cxn modelId="{6DB453EC-05FC-DE47-8023-73663BDAEFC1}" type="presParOf" srcId="{1468C5AD-662D-4C85-BD52-81E7832FC433}" destId="{539D3649-4029-45FD-A219-30A0E5CC0A46}" srcOrd="2" destOrd="0" presId="urn:microsoft.com/office/officeart/2018/5/layout/IconCircleLabelList"/>
    <dgm:cxn modelId="{959843C8-A5E0-0E4F-AEF9-2FC78F8B9CA5}" type="presParOf" srcId="{539D3649-4029-45FD-A219-30A0E5CC0A46}" destId="{883811E5-EC5A-4132-951A-534054BE5509}" srcOrd="0" destOrd="0" presId="urn:microsoft.com/office/officeart/2018/5/layout/IconCircleLabelList"/>
    <dgm:cxn modelId="{B325657D-CB17-2941-8486-78E647E97F14}" type="presParOf" srcId="{539D3649-4029-45FD-A219-30A0E5CC0A46}" destId="{96E710AC-42BB-48CB-81DF-0C701E7AF96A}" srcOrd="1" destOrd="0" presId="urn:microsoft.com/office/officeart/2018/5/layout/IconCircleLabelList"/>
    <dgm:cxn modelId="{E335DC07-767D-2742-9A63-31B778BE5A4C}" type="presParOf" srcId="{539D3649-4029-45FD-A219-30A0E5CC0A46}" destId="{3C66321A-7625-46A7-BCDA-6E89F0FA5C7B}" srcOrd="2" destOrd="0" presId="urn:microsoft.com/office/officeart/2018/5/layout/IconCircleLabelList"/>
    <dgm:cxn modelId="{097BA1A7-B008-7944-9E95-EA331B5268F0}" type="presParOf" srcId="{539D3649-4029-45FD-A219-30A0E5CC0A46}" destId="{2AE43283-D82A-461A-822D-6A6D4A5CC09D}" srcOrd="3" destOrd="0" presId="urn:microsoft.com/office/officeart/2018/5/layout/IconCircleLabelList"/>
    <dgm:cxn modelId="{F86A112A-4DC3-E74D-943C-026F537BEC04}" type="presParOf" srcId="{1468C5AD-662D-4C85-BD52-81E7832FC433}" destId="{96BB9CF2-4175-4B7F-A652-7331310F2313}" srcOrd="3" destOrd="0" presId="urn:microsoft.com/office/officeart/2018/5/layout/IconCircleLabelList"/>
    <dgm:cxn modelId="{E5CB98F5-C602-294C-9183-E407B8387198}" type="presParOf" srcId="{1468C5AD-662D-4C85-BD52-81E7832FC433}" destId="{81823C6F-5BDE-4C02-8D83-C62B64848F6E}" srcOrd="4" destOrd="0" presId="urn:microsoft.com/office/officeart/2018/5/layout/IconCircleLabelList"/>
    <dgm:cxn modelId="{6DA32202-F617-6642-8F37-5440C596E4AC}" type="presParOf" srcId="{81823C6F-5BDE-4C02-8D83-C62B64848F6E}" destId="{617350C3-EA00-4BA0-BCB0-C86B4645184C}" srcOrd="0" destOrd="0" presId="urn:microsoft.com/office/officeart/2018/5/layout/IconCircleLabelList"/>
    <dgm:cxn modelId="{600F988D-6AD9-F544-828F-9B4146F0C76E}" type="presParOf" srcId="{81823C6F-5BDE-4C02-8D83-C62B64848F6E}" destId="{A9F0C982-5DE2-4B34-BBA3-960380371849}" srcOrd="1" destOrd="0" presId="urn:microsoft.com/office/officeart/2018/5/layout/IconCircleLabelList"/>
    <dgm:cxn modelId="{2B6B31DB-BF36-3947-B8BF-69D810AF958E}" type="presParOf" srcId="{81823C6F-5BDE-4C02-8D83-C62B64848F6E}" destId="{B5B279DD-8F53-42AA-8C94-2739F7E09C89}" srcOrd="2" destOrd="0" presId="urn:microsoft.com/office/officeart/2018/5/layout/IconCircleLabelList"/>
    <dgm:cxn modelId="{D497A4F5-9B4B-E845-BD37-E809AD298BEC}" type="presParOf" srcId="{81823C6F-5BDE-4C02-8D83-C62B64848F6E}" destId="{CDC3B3BB-27C2-4810-A8F8-B146AF6E17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150A05-FD62-4923-BCCA-BEB5A753830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AAF44-DA07-4045-A3DB-A2EDA4F1AD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Raw data non-stationary with structural breaks.</a:t>
          </a:r>
          <a:endParaRPr lang="en-US" dirty="0"/>
        </a:p>
      </dgm:t>
    </dgm:pt>
    <dgm:pt modelId="{52CFA630-C416-4917-8AC7-6A48756FA58D}" type="parTrans" cxnId="{70EE3CF2-8BCC-48E3-858E-98DF824E7AA1}">
      <dgm:prSet/>
      <dgm:spPr/>
      <dgm:t>
        <a:bodyPr/>
        <a:lstStyle/>
        <a:p>
          <a:endParaRPr lang="en-US"/>
        </a:p>
      </dgm:t>
    </dgm:pt>
    <dgm:pt modelId="{33CA9B72-8364-4DEA-9C2B-DBAF2F28F39C}" type="sibTrans" cxnId="{70EE3CF2-8BCC-48E3-858E-98DF824E7AA1}">
      <dgm:prSet/>
      <dgm:spPr/>
      <dgm:t>
        <a:bodyPr/>
        <a:lstStyle/>
        <a:p>
          <a:endParaRPr lang="en-US"/>
        </a:p>
      </dgm:t>
    </dgm:pt>
    <dgm:pt modelId="{FA33F81D-EDAD-4678-A905-1FA564C417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OLS best model for next-day prediction.</a:t>
          </a:r>
        </a:p>
      </dgm:t>
    </dgm:pt>
    <dgm:pt modelId="{4FB575B0-54A5-43CB-B256-828FA8CA9973}" type="sibTrans" cxnId="{058039A1-0C3D-4CDF-94F0-C69BDB5F49BA}">
      <dgm:prSet/>
      <dgm:spPr/>
      <dgm:t>
        <a:bodyPr/>
        <a:lstStyle/>
        <a:p>
          <a:endParaRPr lang="en-US"/>
        </a:p>
      </dgm:t>
    </dgm:pt>
    <dgm:pt modelId="{1A81D631-81B7-4368-8884-72B5BAB1ADAD}" type="parTrans" cxnId="{058039A1-0C3D-4CDF-94F0-C69BDB5F49BA}">
      <dgm:prSet/>
      <dgm:spPr/>
      <dgm:t>
        <a:bodyPr/>
        <a:lstStyle/>
        <a:p>
          <a:endParaRPr lang="en-US"/>
        </a:p>
      </dgm:t>
    </dgm:pt>
    <dgm:pt modelId="{3F095210-4C62-45DD-9246-B41E50EFC6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RF &amp; XGB overfit.</a:t>
          </a:r>
        </a:p>
      </dgm:t>
    </dgm:pt>
    <dgm:pt modelId="{DCED239A-2AA3-414B-B50C-EBA530A58E02}" type="sibTrans" cxnId="{B5214B62-C381-41A7-9581-DA4EBACCCA58}">
      <dgm:prSet/>
      <dgm:spPr/>
      <dgm:t>
        <a:bodyPr/>
        <a:lstStyle/>
        <a:p>
          <a:endParaRPr lang="en-US"/>
        </a:p>
      </dgm:t>
    </dgm:pt>
    <dgm:pt modelId="{E2BFB16B-ACA7-4633-B09C-136B82F1B5B3}" type="parTrans" cxnId="{B5214B62-C381-41A7-9581-DA4EBACCCA58}">
      <dgm:prSet/>
      <dgm:spPr/>
      <dgm:t>
        <a:bodyPr/>
        <a:lstStyle/>
        <a:p>
          <a:endParaRPr lang="en-US"/>
        </a:p>
      </dgm:t>
    </dgm:pt>
    <dgm:pt modelId="{EFD8751E-304A-48C1-B93E-80AA3125B3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Multi-stock XGBoost improves generalization.</a:t>
          </a:r>
          <a:endParaRPr lang="en-US" dirty="0"/>
        </a:p>
      </dgm:t>
    </dgm:pt>
    <dgm:pt modelId="{5A2A6096-6CAB-4792-8913-D31738A53B33}" type="sibTrans" cxnId="{6A36631D-26A0-4331-9F34-1EE574451357}">
      <dgm:prSet/>
      <dgm:spPr/>
      <dgm:t>
        <a:bodyPr/>
        <a:lstStyle/>
        <a:p>
          <a:endParaRPr lang="en-US"/>
        </a:p>
      </dgm:t>
    </dgm:pt>
    <dgm:pt modelId="{8C6AEC01-E403-4B48-BD70-EC1CAD1B9894}" type="parTrans" cxnId="{6A36631D-26A0-4331-9F34-1EE574451357}">
      <dgm:prSet/>
      <dgm:spPr/>
      <dgm:t>
        <a:bodyPr/>
        <a:lstStyle/>
        <a:p>
          <a:endParaRPr lang="en-US"/>
        </a:p>
      </dgm:t>
    </dgm:pt>
    <dgm:pt modelId="{79C75C85-0527-42CD-9562-F921B1530637}" type="pres">
      <dgm:prSet presAssocID="{40150A05-FD62-4923-BCCA-BEB5A7538304}" presName="root" presStyleCnt="0">
        <dgm:presLayoutVars>
          <dgm:dir/>
          <dgm:resizeHandles val="exact"/>
        </dgm:presLayoutVars>
      </dgm:prSet>
      <dgm:spPr/>
    </dgm:pt>
    <dgm:pt modelId="{8D6A2979-3709-4281-9E12-0AF536CBCB2D}" type="pres">
      <dgm:prSet presAssocID="{175AAF44-DA07-4045-A3DB-A2EDA4F1AD9F}" presName="compNode" presStyleCnt="0"/>
      <dgm:spPr/>
    </dgm:pt>
    <dgm:pt modelId="{B85C3E6C-C486-416A-A678-1CB28F94C3D7}" type="pres">
      <dgm:prSet presAssocID="{175AAF44-DA07-4045-A3DB-A2EDA4F1AD9F}" presName="bgRect" presStyleLbl="bgShp" presStyleIdx="0" presStyleCnt="4"/>
      <dgm:spPr/>
    </dgm:pt>
    <dgm:pt modelId="{28F7223B-EE87-4A92-B236-4FD51D4FBD7D}" type="pres">
      <dgm:prSet presAssocID="{175AAF44-DA07-4045-A3DB-A2EDA4F1AD9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2A7D17D-FFC6-4C0A-86E4-C82FCD4BA7F1}" type="pres">
      <dgm:prSet presAssocID="{175AAF44-DA07-4045-A3DB-A2EDA4F1AD9F}" presName="spaceRect" presStyleCnt="0"/>
      <dgm:spPr/>
    </dgm:pt>
    <dgm:pt modelId="{B0508284-5BF6-420F-A2F4-CCEAED2B3A33}" type="pres">
      <dgm:prSet presAssocID="{175AAF44-DA07-4045-A3DB-A2EDA4F1AD9F}" presName="parTx" presStyleLbl="revTx" presStyleIdx="0" presStyleCnt="4">
        <dgm:presLayoutVars>
          <dgm:chMax val="0"/>
          <dgm:chPref val="0"/>
        </dgm:presLayoutVars>
      </dgm:prSet>
      <dgm:spPr/>
    </dgm:pt>
    <dgm:pt modelId="{46E285A8-35E3-43FE-8217-DD94C468CE12}" type="pres">
      <dgm:prSet presAssocID="{33CA9B72-8364-4DEA-9C2B-DBAF2F28F39C}" presName="sibTrans" presStyleCnt="0"/>
      <dgm:spPr/>
    </dgm:pt>
    <dgm:pt modelId="{263F0D96-CAC1-4CE7-A09C-57E70EF3D2ED}" type="pres">
      <dgm:prSet presAssocID="{FA33F81D-EDAD-4678-A905-1FA564C417A1}" presName="compNode" presStyleCnt="0"/>
      <dgm:spPr/>
    </dgm:pt>
    <dgm:pt modelId="{749719F6-0F8C-429C-8A78-4FFD83589603}" type="pres">
      <dgm:prSet presAssocID="{FA33F81D-EDAD-4678-A905-1FA564C417A1}" presName="bgRect" presStyleLbl="bgShp" presStyleIdx="1" presStyleCnt="4"/>
      <dgm:spPr/>
    </dgm:pt>
    <dgm:pt modelId="{09863F31-22BD-47E1-9564-3DBD6EE40879}" type="pres">
      <dgm:prSet presAssocID="{FA33F81D-EDAD-4678-A905-1FA564C417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CA117C22-2DB4-4160-BD03-FD53A9881E7D}" type="pres">
      <dgm:prSet presAssocID="{FA33F81D-EDAD-4678-A905-1FA564C417A1}" presName="spaceRect" presStyleCnt="0"/>
      <dgm:spPr/>
    </dgm:pt>
    <dgm:pt modelId="{9819F8E1-C98C-4317-BBDF-B2430A992F79}" type="pres">
      <dgm:prSet presAssocID="{FA33F81D-EDAD-4678-A905-1FA564C417A1}" presName="parTx" presStyleLbl="revTx" presStyleIdx="1" presStyleCnt="4">
        <dgm:presLayoutVars>
          <dgm:chMax val="0"/>
          <dgm:chPref val="0"/>
        </dgm:presLayoutVars>
      </dgm:prSet>
      <dgm:spPr/>
    </dgm:pt>
    <dgm:pt modelId="{D6F33621-8B1D-4300-B29F-1FAD58DAE848}" type="pres">
      <dgm:prSet presAssocID="{4FB575B0-54A5-43CB-B256-828FA8CA9973}" presName="sibTrans" presStyleCnt="0"/>
      <dgm:spPr/>
    </dgm:pt>
    <dgm:pt modelId="{F8459640-EF8E-44E2-A1FF-F2E3C2C1215F}" type="pres">
      <dgm:prSet presAssocID="{3F095210-4C62-45DD-9246-B41E50EFC62F}" presName="compNode" presStyleCnt="0"/>
      <dgm:spPr/>
    </dgm:pt>
    <dgm:pt modelId="{4BA77FB6-B72B-4074-80B7-ADBF34984F8E}" type="pres">
      <dgm:prSet presAssocID="{3F095210-4C62-45DD-9246-B41E50EFC62F}" presName="bgRect" presStyleLbl="bgShp" presStyleIdx="2" presStyleCnt="4"/>
      <dgm:spPr/>
    </dgm:pt>
    <dgm:pt modelId="{55204397-9F4B-4D32-AA00-932CA6A9F432}" type="pres">
      <dgm:prSet presAssocID="{3F095210-4C62-45DD-9246-B41E50EFC62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B14E627-E4C2-4FD5-9486-B329729DAB59}" type="pres">
      <dgm:prSet presAssocID="{3F095210-4C62-45DD-9246-B41E50EFC62F}" presName="spaceRect" presStyleCnt="0"/>
      <dgm:spPr/>
    </dgm:pt>
    <dgm:pt modelId="{548B7836-5A18-43FE-AA59-59684B901C99}" type="pres">
      <dgm:prSet presAssocID="{3F095210-4C62-45DD-9246-B41E50EFC62F}" presName="parTx" presStyleLbl="revTx" presStyleIdx="2" presStyleCnt="4">
        <dgm:presLayoutVars>
          <dgm:chMax val="0"/>
          <dgm:chPref val="0"/>
        </dgm:presLayoutVars>
      </dgm:prSet>
      <dgm:spPr/>
    </dgm:pt>
    <dgm:pt modelId="{04F5E224-764B-4F75-8738-F744310B8E52}" type="pres">
      <dgm:prSet presAssocID="{DCED239A-2AA3-414B-B50C-EBA530A58E02}" presName="sibTrans" presStyleCnt="0"/>
      <dgm:spPr/>
    </dgm:pt>
    <dgm:pt modelId="{19177D17-86CC-4B97-A5A9-D722DF459B02}" type="pres">
      <dgm:prSet presAssocID="{EFD8751E-304A-48C1-B93E-80AA3125B338}" presName="compNode" presStyleCnt="0"/>
      <dgm:spPr/>
    </dgm:pt>
    <dgm:pt modelId="{F10C31EF-8A2B-40EB-B524-3A1805931B34}" type="pres">
      <dgm:prSet presAssocID="{EFD8751E-304A-48C1-B93E-80AA3125B338}" presName="bgRect" presStyleLbl="bgShp" presStyleIdx="3" presStyleCnt="4"/>
      <dgm:spPr/>
    </dgm:pt>
    <dgm:pt modelId="{A7FC3570-A094-40B6-9699-12907DAA3D96}" type="pres">
      <dgm:prSet presAssocID="{EFD8751E-304A-48C1-B93E-80AA3125B3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912789D1-9327-45FA-87E4-2CFF95B9DABC}" type="pres">
      <dgm:prSet presAssocID="{EFD8751E-304A-48C1-B93E-80AA3125B338}" presName="spaceRect" presStyleCnt="0"/>
      <dgm:spPr/>
    </dgm:pt>
    <dgm:pt modelId="{FD5B66FF-045F-4AAB-BA8C-794EA325C551}" type="pres">
      <dgm:prSet presAssocID="{EFD8751E-304A-48C1-B93E-80AA3125B33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A36631D-26A0-4331-9F34-1EE574451357}" srcId="{40150A05-FD62-4923-BCCA-BEB5A7538304}" destId="{EFD8751E-304A-48C1-B93E-80AA3125B338}" srcOrd="3" destOrd="0" parTransId="{8C6AEC01-E403-4B48-BD70-EC1CAD1B9894}" sibTransId="{5A2A6096-6CAB-4792-8913-D31738A53B33}"/>
    <dgm:cxn modelId="{E6B9F93C-29E8-4544-BC61-18D07564433B}" type="presOf" srcId="{3F095210-4C62-45DD-9246-B41E50EFC62F}" destId="{548B7836-5A18-43FE-AA59-59684B901C99}" srcOrd="0" destOrd="0" presId="urn:microsoft.com/office/officeart/2018/2/layout/IconVerticalSolidList"/>
    <dgm:cxn modelId="{B5214B62-C381-41A7-9581-DA4EBACCCA58}" srcId="{40150A05-FD62-4923-BCCA-BEB5A7538304}" destId="{3F095210-4C62-45DD-9246-B41E50EFC62F}" srcOrd="2" destOrd="0" parTransId="{E2BFB16B-ACA7-4633-B09C-136B82F1B5B3}" sibTransId="{DCED239A-2AA3-414B-B50C-EBA530A58E02}"/>
    <dgm:cxn modelId="{68CE9B80-9C5F-483B-AEAB-F3428FBF3101}" type="presOf" srcId="{FA33F81D-EDAD-4678-A905-1FA564C417A1}" destId="{9819F8E1-C98C-4317-BBDF-B2430A992F79}" srcOrd="0" destOrd="0" presId="urn:microsoft.com/office/officeart/2018/2/layout/IconVerticalSolidList"/>
    <dgm:cxn modelId="{058039A1-0C3D-4CDF-94F0-C69BDB5F49BA}" srcId="{40150A05-FD62-4923-BCCA-BEB5A7538304}" destId="{FA33F81D-EDAD-4678-A905-1FA564C417A1}" srcOrd="1" destOrd="0" parTransId="{1A81D631-81B7-4368-8884-72B5BAB1ADAD}" sibTransId="{4FB575B0-54A5-43CB-B256-828FA8CA9973}"/>
    <dgm:cxn modelId="{E390AFCA-0966-4EAD-B7C5-2967378F6497}" type="presOf" srcId="{EFD8751E-304A-48C1-B93E-80AA3125B338}" destId="{FD5B66FF-045F-4AAB-BA8C-794EA325C551}" srcOrd="0" destOrd="0" presId="urn:microsoft.com/office/officeart/2018/2/layout/IconVerticalSolidList"/>
    <dgm:cxn modelId="{92E8CBE5-8440-47B8-A198-11849554C2F1}" type="presOf" srcId="{175AAF44-DA07-4045-A3DB-A2EDA4F1AD9F}" destId="{B0508284-5BF6-420F-A2F4-CCEAED2B3A33}" srcOrd="0" destOrd="0" presId="urn:microsoft.com/office/officeart/2018/2/layout/IconVerticalSolidList"/>
    <dgm:cxn modelId="{70EE3CF2-8BCC-48E3-858E-98DF824E7AA1}" srcId="{40150A05-FD62-4923-BCCA-BEB5A7538304}" destId="{175AAF44-DA07-4045-A3DB-A2EDA4F1AD9F}" srcOrd="0" destOrd="0" parTransId="{52CFA630-C416-4917-8AC7-6A48756FA58D}" sibTransId="{33CA9B72-8364-4DEA-9C2B-DBAF2F28F39C}"/>
    <dgm:cxn modelId="{3AECE7F2-5790-407D-A6A7-0D40B5E3136D}" type="presOf" srcId="{40150A05-FD62-4923-BCCA-BEB5A7538304}" destId="{79C75C85-0527-42CD-9562-F921B1530637}" srcOrd="0" destOrd="0" presId="urn:microsoft.com/office/officeart/2018/2/layout/IconVerticalSolidList"/>
    <dgm:cxn modelId="{B3A08C22-CBB2-4146-8E1C-499CC21AC3FF}" type="presParOf" srcId="{79C75C85-0527-42CD-9562-F921B1530637}" destId="{8D6A2979-3709-4281-9E12-0AF536CBCB2D}" srcOrd="0" destOrd="0" presId="urn:microsoft.com/office/officeart/2018/2/layout/IconVerticalSolidList"/>
    <dgm:cxn modelId="{024AB02D-9D6C-4E70-9604-09AFC89BD807}" type="presParOf" srcId="{8D6A2979-3709-4281-9E12-0AF536CBCB2D}" destId="{B85C3E6C-C486-416A-A678-1CB28F94C3D7}" srcOrd="0" destOrd="0" presId="urn:microsoft.com/office/officeart/2018/2/layout/IconVerticalSolidList"/>
    <dgm:cxn modelId="{58F4215E-93F4-4D1D-B09F-8EBF65CF2A10}" type="presParOf" srcId="{8D6A2979-3709-4281-9E12-0AF536CBCB2D}" destId="{28F7223B-EE87-4A92-B236-4FD51D4FBD7D}" srcOrd="1" destOrd="0" presId="urn:microsoft.com/office/officeart/2018/2/layout/IconVerticalSolidList"/>
    <dgm:cxn modelId="{854FF2B5-4234-4F6C-8B0A-26952F3B244F}" type="presParOf" srcId="{8D6A2979-3709-4281-9E12-0AF536CBCB2D}" destId="{C2A7D17D-FFC6-4C0A-86E4-C82FCD4BA7F1}" srcOrd="2" destOrd="0" presId="urn:microsoft.com/office/officeart/2018/2/layout/IconVerticalSolidList"/>
    <dgm:cxn modelId="{E947EF43-1968-41D3-817B-BC23DE066700}" type="presParOf" srcId="{8D6A2979-3709-4281-9E12-0AF536CBCB2D}" destId="{B0508284-5BF6-420F-A2F4-CCEAED2B3A33}" srcOrd="3" destOrd="0" presId="urn:microsoft.com/office/officeart/2018/2/layout/IconVerticalSolidList"/>
    <dgm:cxn modelId="{214B903E-66E6-49AB-81AF-A89EF851E4AF}" type="presParOf" srcId="{79C75C85-0527-42CD-9562-F921B1530637}" destId="{46E285A8-35E3-43FE-8217-DD94C468CE12}" srcOrd="1" destOrd="0" presId="urn:microsoft.com/office/officeart/2018/2/layout/IconVerticalSolidList"/>
    <dgm:cxn modelId="{F0B3F5FE-75AC-4423-AA3E-D60F781C425F}" type="presParOf" srcId="{79C75C85-0527-42CD-9562-F921B1530637}" destId="{263F0D96-CAC1-4CE7-A09C-57E70EF3D2ED}" srcOrd="2" destOrd="0" presId="urn:microsoft.com/office/officeart/2018/2/layout/IconVerticalSolidList"/>
    <dgm:cxn modelId="{331AFC68-CD8B-4283-A798-35D3173A379B}" type="presParOf" srcId="{263F0D96-CAC1-4CE7-A09C-57E70EF3D2ED}" destId="{749719F6-0F8C-429C-8A78-4FFD83589603}" srcOrd="0" destOrd="0" presId="urn:microsoft.com/office/officeart/2018/2/layout/IconVerticalSolidList"/>
    <dgm:cxn modelId="{64F3319F-AA72-486C-92ED-9C6A9BF3DEA7}" type="presParOf" srcId="{263F0D96-CAC1-4CE7-A09C-57E70EF3D2ED}" destId="{09863F31-22BD-47E1-9564-3DBD6EE40879}" srcOrd="1" destOrd="0" presId="urn:microsoft.com/office/officeart/2018/2/layout/IconVerticalSolidList"/>
    <dgm:cxn modelId="{89F7EF59-5FBA-4708-A74E-9217223F8036}" type="presParOf" srcId="{263F0D96-CAC1-4CE7-A09C-57E70EF3D2ED}" destId="{CA117C22-2DB4-4160-BD03-FD53A9881E7D}" srcOrd="2" destOrd="0" presId="urn:microsoft.com/office/officeart/2018/2/layout/IconVerticalSolidList"/>
    <dgm:cxn modelId="{3FE40A9E-1FC4-4E2A-BA3C-9156F5DCF465}" type="presParOf" srcId="{263F0D96-CAC1-4CE7-A09C-57E70EF3D2ED}" destId="{9819F8E1-C98C-4317-BBDF-B2430A992F79}" srcOrd="3" destOrd="0" presId="urn:microsoft.com/office/officeart/2018/2/layout/IconVerticalSolidList"/>
    <dgm:cxn modelId="{1DB74FB2-6F89-4903-A099-416A313C7663}" type="presParOf" srcId="{79C75C85-0527-42CD-9562-F921B1530637}" destId="{D6F33621-8B1D-4300-B29F-1FAD58DAE848}" srcOrd="3" destOrd="0" presId="urn:microsoft.com/office/officeart/2018/2/layout/IconVerticalSolidList"/>
    <dgm:cxn modelId="{21E85FC6-DFE4-41FE-8778-480D691E8868}" type="presParOf" srcId="{79C75C85-0527-42CD-9562-F921B1530637}" destId="{F8459640-EF8E-44E2-A1FF-F2E3C2C1215F}" srcOrd="4" destOrd="0" presId="urn:microsoft.com/office/officeart/2018/2/layout/IconVerticalSolidList"/>
    <dgm:cxn modelId="{4A98FAD7-07DC-4750-821B-E9E2116C6AB1}" type="presParOf" srcId="{F8459640-EF8E-44E2-A1FF-F2E3C2C1215F}" destId="{4BA77FB6-B72B-4074-80B7-ADBF34984F8E}" srcOrd="0" destOrd="0" presId="urn:microsoft.com/office/officeart/2018/2/layout/IconVerticalSolidList"/>
    <dgm:cxn modelId="{2890F072-92D1-4D9E-A628-02463C81F14C}" type="presParOf" srcId="{F8459640-EF8E-44E2-A1FF-F2E3C2C1215F}" destId="{55204397-9F4B-4D32-AA00-932CA6A9F432}" srcOrd="1" destOrd="0" presId="urn:microsoft.com/office/officeart/2018/2/layout/IconVerticalSolidList"/>
    <dgm:cxn modelId="{0B8815AE-3B34-4B62-ADA9-7305373B2FF8}" type="presParOf" srcId="{F8459640-EF8E-44E2-A1FF-F2E3C2C1215F}" destId="{FB14E627-E4C2-4FD5-9486-B329729DAB59}" srcOrd="2" destOrd="0" presId="urn:microsoft.com/office/officeart/2018/2/layout/IconVerticalSolidList"/>
    <dgm:cxn modelId="{DE15A520-0E17-4DCA-AA30-48AF57A191DF}" type="presParOf" srcId="{F8459640-EF8E-44E2-A1FF-F2E3C2C1215F}" destId="{548B7836-5A18-43FE-AA59-59684B901C99}" srcOrd="3" destOrd="0" presId="urn:microsoft.com/office/officeart/2018/2/layout/IconVerticalSolidList"/>
    <dgm:cxn modelId="{8862A377-FA2D-45FA-A3A0-66D82D483392}" type="presParOf" srcId="{79C75C85-0527-42CD-9562-F921B1530637}" destId="{04F5E224-764B-4F75-8738-F744310B8E52}" srcOrd="5" destOrd="0" presId="urn:microsoft.com/office/officeart/2018/2/layout/IconVerticalSolidList"/>
    <dgm:cxn modelId="{C7BAC7F4-1329-471B-9828-7B46B5459E38}" type="presParOf" srcId="{79C75C85-0527-42CD-9562-F921B1530637}" destId="{19177D17-86CC-4B97-A5A9-D722DF459B02}" srcOrd="6" destOrd="0" presId="urn:microsoft.com/office/officeart/2018/2/layout/IconVerticalSolidList"/>
    <dgm:cxn modelId="{C795852D-E42B-45C1-9009-FF8283A99C48}" type="presParOf" srcId="{19177D17-86CC-4B97-A5A9-D722DF459B02}" destId="{F10C31EF-8A2B-40EB-B524-3A1805931B34}" srcOrd="0" destOrd="0" presId="urn:microsoft.com/office/officeart/2018/2/layout/IconVerticalSolidList"/>
    <dgm:cxn modelId="{718D9CA6-1EB1-4F57-B073-F806465631DA}" type="presParOf" srcId="{19177D17-86CC-4B97-A5A9-D722DF459B02}" destId="{A7FC3570-A094-40B6-9699-12907DAA3D96}" srcOrd="1" destOrd="0" presId="urn:microsoft.com/office/officeart/2018/2/layout/IconVerticalSolidList"/>
    <dgm:cxn modelId="{F0E85B59-9375-4F96-9FF7-E77800A635C2}" type="presParOf" srcId="{19177D17-86CC-4B97-A5A9-D722DF459B02}" destId="{912789D1-9327-45FA-87E4-2CFF95B9DABC}" srcOrd="2" destOrd="0" presId="urn:microsoft.com/office/officeart/2018/2/layout/IconVerticalSolidList"/>
    <dgm:cxn modelId="{928781C8-656C-4612-ABD5-6A4B810E19BC}" type="presParOf" srcId="{19177D17-86CC-4B97-A5A9-D722DF459B02}" destId="{FD5B66FF-045F-4AAB-BA8C-794EA325C5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EF081D-D670-4524-928D-71EF01D250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8EB613-9575-6444-9178-668DFDA3C4F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Future improvements:</a:t>
          </a:r>
        </a:p>
      </dgm:t>
    </dgm:pt>
    <dgm:pt modelId="{49386AED-20D4-AF40-A108-7C3BDE6884DA}" type="parTrans" cxnId="{30B37A35-F3EF-1E4C-A6C6-38D7996D76F6}">
      <dgm:prSet/>
      <dgm:spPr/>
      <dgm:t>
        <a:bodyPr/>
        <a:lstStyle/>
        <a:p>
          <a:endParaRPr lang="en-GB"/>
        </a:p>
      </dgm:t>
    </dgm:pt>
    <dgm:pt modelId="{CC613F3F-9D66-C043-B703-3060C2916390}" type="sibTrans" cxnId="{30B37A35-F3EF-1E4C-A6C6-38D7996D76F6}">
      <dgm:prSet/>
      <dgm:spPr/>
      <dgm:t>
        <a:bodyPr/>
        <a:lstStyle/>
        <a:p>
          <a:endParaRPr lang="en-GB"/>
        </a:p>
      </dgm:t>
    </dgm:pt>
    <dgm:pt modelId="{927929CC-1F6A-7044-9AD2-ED4708BD2D4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 Transformers, GRU, hybrid DL models</a:t>
          </a:r>
        </a:p>
      </dgm:t>
    </dgm:pt>
    <dgm:pt modelId="{888B3345-27D6-2A45-B964-399BE1EB6E08}" type="parTrans" cxnId="{815E58B8-50FE-184D-8810-FFD02D9B271E}">
      <dgm:prSet/>
      <dgm:spPr/>
      <dgm:t>
        <a:bodyPr/>
        <a:lstStyle/>
        <a:p>
          <a:endParaRPr lang="en-GB"/>
        </a:p>
      </dgm:t>
    </dgm:pt>
    <dgm:pt modelId="{4153C863-44B5-F049-8254-7BEA050098A0}" type="sibTrans" cxnId="{815E58B8-50FE-184D-8810-FFD02D9B271E}">
      <dgm:prSet/>
      <dgm:spPr/>
      <dgm:t>
        <a:bodyPr/>
        <a:lstStyle/>
        <a:p>
          <a:endParaRPr lang="en-GB"/>
        </a:p>
      </dgm:t>
    </dgm:pt>
    <dgm:pt modelId="{257CFD20-90F3-7D48-9954-46ACBDD96AD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Multi-step forecasting (1–10 days ahead)</a:t>
          </a:r>
        </a:p>
      </dgm:t>
    </dgm:pt>
    <dgm:pt modelId="{7B954452-252D-7648-8FFD-360D136FEBC5}" type="parTrans" cxnId="{E7F51DE9-78AC-DD44-90FA-035ED8E8F0C4}">
      <dgm:prSet/>
      <dgm:spPr/>
      <dgm:t>
        <a:bodyPr/>
        <a:lstStyle/>
        <a:p>
          <a:endParaRPr lang="en-GB"/>
        </a:p>
      </dgm:t>
    </dgm:pt>
    <dgm:pt modelId="{BB9B2AE6-140F-8E41-AB78-16E23E3BB116}" type="sibTrans" cxnId="{E7F51DE9-78AC-DD44-90FA-035ED8E8F0C4}">
      <dgm:prSet/>
      <dgm:spPr/>
      <dgm:t>
        <a:bodyPr/>
        <a:lstStyle/>
        <a:p>
          <a:endParaRPr lang="en-GB"/>
        </a:p>
      </dgm:t>
    </dgm:pt>
    <dgm:pt modelId="{DD27C87E-2C64-9C4A-87DF-A524962D19D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Add macroeconomic and sentiment indicators</a:t>
          </a:r>
        </a:p>
      </dgm:t>
    </dgm:pt>
    <dgm:pt modelId="{642CFECC-B2C6-5241-9008-7973291ADFC4}" type="parTrans" cxnId="{BE742BA9-FA92-3B49-A911-B44F7D16EEE4}">
      <dgm:prSet/>
      <dgm:spPr/>
      <dgm:t>
        <a:bodyPr/>
        <a:lstStyle/>
        <a:p>
          <a:endParaRPr lang="en-GB"/>
        </a:p>
      </dgm:t>
    </dgm:pt>
    <dgm:pt modelId="{3756FC26-EBED-3044-8282-B0D04CACC0BC}" type="sibTrans" cxnId="{BE742BA9-FA92-3B49-A911-B44F7D16EEE4}">
      <dgm:prSet/>
      <dgm:spPr/>
      <dgm:t>
        <a:bodyPr/>
        <a:lstStyle/>
        <a:p>
          <a:endParaRPr lang="en-GB"/>
        </a:p>
      </dgm:t>
    </dgm:pt>
    <dgm:pt modelId="{E861F510-427F-554F-A38B-7DF4836477D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Explore regime-switching models for structural breaks</a:t>
          </a:r>
        </a:p>
      </dgm:t>
    </dgm:pt>
    <dgm:pt modelId="{2B47F94F-E09B-5747-A399-5CED742E3A4F}" type="parTrans" cxnId="{62825C36-4408-4B45-A15D-3AEAF5B9800B}">
      <dgm:prSet/>
      <dgm:spPr/>
      <dgm:t>
        <a:bodyPr/>
        <a:lstStyle/>
        <a:p>
          <a:endParaRPr lang="en-GB"/>
        </a:p>
      </dgm:t>
    </dgm:pt>
    <dgm:pt modelId="{035C724B-D7EF-9647-A6D9-5BCD44CECA73}" type="sibTrans" cxnId="{62825C36-4408-4B45-A15D-3AEAF5B9800B}">
      <dgm:prSet/>
      <dgm:spPr/>
      <dgm:t>
        <a:bodyPr/>
        <a:lstStyle/>
        <a:p>
          <a:endParaRPr lang="en-GB"/>
        </a:p>
      </dgm:t>
    </dgm:pt>
    <dgm:pt modelId="{86B6D476-0222-F148-8B54-4427AE13227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Tune LSTM with attention mechanisms</a:t>
          </a:r>
        </a:p>
      </dgm:t>
    </dgm:pt>
    <dgm:pt modelId="{F5F1FF1B-C6C0-A24F-A54C-0153A8F62466}" type="parTrans" cxnId="{29CE8589-D681-BB41-9364-03A501ECDD86}">
      <dgm:prSet/>
      <dgm:spPr/>
      <dgm:t>
        <a:bodyPr/>
        <a:lstStyle/>
        <a:p>
          <a:endParaRPr lang="en-GB"/>
        </a:p>
      </dgm:t>
    </dgm:pt>
    <dgm:pt modelId="{AED9FE84-87DE-624F-BE73-28CF7F51DB08}" type="sibTrans" cxnId="{29CE8589-D681-BB41-9364-03A501ECDD86}">
      <dgm:prSet/>
      <dgm:spPr/>
      <dgm:t>
        <a:bodyPr/>
        <a:lstStyle/>
        <a:p>
          <a:endParaRPr lang="en-GB"/>
        </a:p>
      </dgm:t>
    </dgm:pt>
    <dgm:pt modelId="{FA6F57A8-4DD8-4E3A-897E-9AC6018917EB}" type="pres">
      <dgm:prSet presAssocID="{BAEF081D-D670-4524-928D-71EF01D25075}" presName="root" presStyleCnt="0">
        <dgm:presLayoutVars>
          <dgm:dir/>
          <dgm:resizeHandles val="exact"/>
        </dgm:presLayoutVars>
      </dgm:prSet>
      <dgm:spPr/>
    </dgm:pt>
    <dgm:pt modelId="{759C8839-9284-4CAD-BD46-156777A895D2}" type="pres">
      <dgm:prSet presAssocID="{128EB613-9575-6444-9178-668DFDA3C4F4}" presName="compNode" presStyleCnt="0"/>
      <dgm:spPr/>
    </dgm:pt>
    <dgm:pt modelId="{15A08A84-D7A0-450D-BC3E-5C1741EB5F7B}" type="pres">
      <dgm:prSet presAssocID="{128EB613-9575-6444-9178-668DFDA3C4F4}" presName="bgRect" presStyleLbl="bgShp" presStyleIdx="0" presStyleCnt="6"/>
      <dgm:spPr/>
    </dgm:pt>
    <dgm:pt modelId="{964338EA-AEA7-4196-A464-93C444A523B5}" type="pres">
      <dgm:prSet presAssocID="{128EB613-9575-6444-9178-668DFDA3C4F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F97239F-00C4-4D34-8A0E-4E836A210DE6}" type="pres">
      <dgm:prSet presAssocID="{128EB613-9575-6444-9178-668DFDA3C4F4}" presName="spaceRect" presStyleCnt="0"/>
      <dgm:spPr/>
    </dgm:pt>
    <dgm:pt modelId="{D130D355-5E15-452C-86C7-A7B9E8EAC6EC}" type="pres">
      <dgm:prSet presAssocID="{128EB613-9575-6444-9178-668DFDA3C4F4}" presName="parTx" presStyleLbl="revTx" presStyleIdx="0" presStyleCnt="6">
        <dgm:presLayoutVars>
          <dgm:chMax val="0"/>
          <dgm:chPref val="0"/>
        </dgm:presLayoutVars>
      </dgm:prSet>
      <dgm:spPr/>
    </dgm:pt>
    <dgm:pt modelId="{C226AEC2-13DD-4276-87D2-B7F46769EA34}" type="pres">
      <dgm:prSet presAssocID="{CC613F3F-9D66-C043-B703-3060C2916390}" presName="sibTrans" presStyleCnt="0"/>
      <dgm:spPr/>
    </dgm:pt>
    <dgm:pt modelId="{03C120AC-8605-4C92-8E05-C2458EDA43FA}" type="pres">
      <dgm:prSet presAssocID="{927929CC-1F6A-7044-9AD2-ED4708BD2D44}" presName="compNode" presStyleCnt="0"/>
      <dgm:spPr/>
    </dgm:pt>
    <dgm:pt modelId="{B9E6492C-8DCD-4029-A9F2-5D9FE36240A7}" type="pres">
      <dgm:prSet presAssocID="{927929CC-1F6A-7044-9AD2-ED4708BD2D44}" presName="bgRect" presStyleLbl="bgShp" presStyleIdx="1" presStyleCnt="6"/>
      <dgm:spPr/>
    </dgm:pt>
    <dgm:pt modelId="{C5687ABB-89A3-4EAF-A9FE-E3D43BEA8568}" type="pres">
      <dgm:prSet presAssocID="{927929CC-1F6A-7044-9AD2-ED4708BD2D4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4E43492F-7044-4DF5-ADBB-72ABBB69B673}" type="pres">
      <dgm:prSet presAssocID="{927929CC-1F6A-7044-9AD2-ED4708BD2D44}" presName="spaceRect" presStyleCnt="0"/>
      <dgm:spPr/>
    </dgm:pt>
    <dgm:pt modelId="{7ED6436F-DA92-47BA-9CEF-12A51027F086}" type="pres">
      <dgm:prSet presAssocID="{927929CC-1F6A-7044-9AD2-ED4708BD2D44}" presName="parTx" presStyleLbl="revTx" presStyleIdx="1" presStyleCnt="6">
        <dgm:presLayoutVars>
          <dgm:chMax val="0"/>
          <dgm:chPref val="0"/>
        </dgm:presLayoutVars>
      </dgm:prSet>
      <dgm:spPr/>
    </dgm:pt>
    <dgm:pt modelId="{9D2CE9FD-07A0-4AA7-B948-7D5D3321186B}" type="pres">
      <dgm:prSet presAssocID="{4153C863-44B5-F049-8254-7BEA050098A0}" presName="sibTrans" presStyleCnt="0"/>
      <dgm:spPr/>
    </dgm:pt>
    <dgm:pt modelId="{B9C65F19-6D11-4B86-B14A-05B007139393}" type="pres">
      <dgm:prSet presAssocID="{257CFD20-90F3-7D48-9954-46ACBDD96AD8}" presName="compNode" presStyleCnt="0"/>
      <dgm:spPr/>
    </dgm:pt>
    <dgm:pt modelId="{4355F676-8C4D-462B-AF7B-EEF5B9AF61A6}" type="pres">
      <dgm:prSet presAssocID="{257CFD20-90F3-7D48-9954-46ACBDD96AD8}" presName="bgRect" presStyleLbl="bgShp" presStyleIdx="2" presStyleCnt="6"/>
      <dgm:spPr/>
    </dgm:pt>
    <dgm:pt modelId="{EB1FE181-0EDC-43CB-91A3-92E0EBDC8C43}" type="pres">
      <dgm:prSet presAssocID="{257CFD20-90F3-7D48-9954-46ACBDD96AD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08FF772-2D1E-4471-8E23-D10DAC150409}" type="pres">
      <dgm:prSet presAssocID="{257CFD20-90F3-7D48-9954-46ACBDD96AD8}" presName="spaceRect" presStyleCnt="0"/>
      <dgm:spPr/>
    </dgm:pt>
    <dgm:pt modelId="{F8897793-2B73-4773-846C-3604DE40CAFC}" type="pres">
      <dgm:prSet presAssocID="{257CFD20-90F3-7D48-9954-46ACBDD96AD8}" presName="parTx" presStyleLbl="revTx" presStyleIdx="2" presStyleCnt="6">
        <dgm:presLayoutVars>
          <dgm:chMax val="0"/>
          <dgm:chPref val="0"/>
        </dgm:presLayoutVars>
      </dgm:prSet>
      <dgm:spPr/>
    </dgm:pt>
    <dgm:pt modelId="{56367626-F310-4FDB-B724-B0A85C4E2AA6}" type="pres">
      <dgm:prSet presAssocID="{BB9B2AE6-140F-8E41-AB78-16E23E3BB116}" presName="sibTrans" presStyleCnt="0"/>
      <dgm:spPr/>
    </dgm:pt>
    <dgm:pt modelId="{5C0FEC69-882D-4CAD-B478-A9DF73A96FB1}" type="pres">
      <dgm:prSet presAssocID="{DD27C87E-2C64-9C4A-87DF-A524962D19D9}" presName="compNode" presStyleCnt="0"/>
      <dgm:spPr/>
    </dgm:pt>
    <dgm:pt modelId="{3EB9B8EB-1243-4F2C-94D8-5C1BEC2A7887}" type="pres">
      <dgm:prSet presAssocID="{DD27C87E-2C64-9C4A-87DF-A524962D19D9}" presName="bgRect" presStyleLbl="bgShp" presStyleIdx="3" presStyleCnt="6"/>
      <dgm:spPr/>
    </dgm:pt>
    <dgm:pt modelId="{4770A8E0-E0AC-4039-9DC0-29E6CCE64E26}" type="pres">
      <dgm:prSet presAssocID="{DD27C87E-2C64-9C4A-87DF-A524962D19D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E095F13-04EA-4F02-885C-0BC64F835E7C}" type="pres">
      <dgm:prSet presAssocID="{DD27C87E-2C64-9C4A-87DF-A524962D19D9}" presName="spaceRect" presStyleCnt="0"/>
      <dgm:spPr/>
    </dgm:pt>
    <dgm:pt modelId="{4A85A5D5-70D6-4940-892A-A281CD3B1F97}" type="pres">
      <dgm:prSet presAssocID="{DD27C87E-2C64-9C4A-87DF-A524962D19D9}" presName="parTx" presStyleLbl="revTx" presStyleIdx="3" presStyleCnt="6">
        <dgm:presLayoutVars>
          <dgm:chMax val="0"/>
          <dgm:chPref val="0"/>
        </dgm:presLayoutVars>
      </dgm:prSet>
      <dgm:spPr/>
    </dgm:pt>
    <dgm:pt modelId="{FB828FBD-149E-4BB4-8E71-2556696AB5C2}" type="pres">
      <dgm:prSet presAssocID="{3756FC26-EBED-3044-8282-B0D04CACC0BC}" presName="sibTrans" presStyleCnt="0"/>
      <dgm:spPr/>
    </dgm:pt>
    <dgm:pt modelId="{5DF7ADC8-838B-489F-AE55-1887B1B936A5}" type="pres">
      <dgm:prSet presAssocID="{E861F510-427F-554F-A38B-7DF4836477D6}" presName="compNode" presStyleCnt="0"/>
      <dgm:spPr/>
    </dgm:pt>
    <dgm:pt modelId="{12664405-FBBC-4CA1-9927-D1636ADA6EB0}" type="pres">
      <dgm:prSet presAssocID="{E861F510-427F-554F-A38B-7DF4836477D6}" presName="bgRect" presStyleLbl="bgShp" presStyleIdx="4" presStyleCnt="6"/>
      <dgm:spPr/>
    </dgm:pt>
    <dgm:pt modelId="{4B573FBA-4600-4D46-A29B-1FACCA257876}" type="pres">
      <dgm:prSet presAssocID="{E861F510-427F-554F-A38B-7DF4836477D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450503E2-7A7A-4417-98AF-D2E8A522F38E}" type="pres">
      <dgm:prSet presAssocID="{E861F510-427F-554F-A38B-7DF4836477D6}" presName="spaceRect" presStyleCnt="0"/>
      <dgm:spPr/>
    </dgm:pt>
    <dgm:pt modelId="{D38913B4-0D7C-48B0-9A9B-C9F94B4D5416}" type="pres">
      <dgm:prSet presAssocID="{E861F510-427F-554F-A38B-7DF4836477D6}" presName="parTx" presStyleLbl="revTx" presStyleIdx="4" presStyleCnt="6">
        <dgm:presLayoutVars>
          <dgm:chMax val="0"/>
          <dgm:chPref val="0"/>
        </dgm:presLayoutVars>
      </dgm:prSet>
      <dgm:spPr/>
    </dgm:pt>
    <dgm:pt modelId="{69A88603-F045-4BAA-AD42-19A98C5E199F}" type="pres">
      <dgm:prSet presAssocID="{035C724B-D7EF-9647-A6D9-5BCD44CECA73}" presName="sibTrans" presStyleCnt="0"/>
      <dgm:spPr/>
    </dgm:pt>
    <dgm:pt modelId="{2D97F5E9-1305-4EAF-87C1-7FE0D7775ECE}" type="pres">
      <dgm:prSet presAssocID="{86B6D476-0222-F148-8B54-4427AE13227B}" presName="compNode" presStyleCnt="0"/>
      <dgm:spPr/>
    </dgm:pt>
    <dgm:pt modelId="{64825FD5-A790-41BC-A02A-81B2CBA73C88}" type="pres">
      <dgm:prSet presAssocID="{86B6D476-0222-F148-8B54-4427AE13227B}" presName="bgRect" presStyleLbl="bgShp" presStyleIdx="5" presStyleCnt="6"/>
      <dgm:spPr/>
    </dgm:pt>
    <dgm:pt modelId="{F932A9D9-F8D0-4D9E-81D1-1DFF980F36A2}" type="pres">
      <dgm:prSet presAssocID="{86B6D476-0222-F148-8B54-4427AE13227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FAFDE4A6-C5EF-4F3C-936C-29DE6617B232}" type="pres">
      <dgm:prSet presAssocID="{86B6D476-0222-F148-8B54-4427AE13227B}" presName="spaceRect" presStyleCnt="0"/>
      <dgm:spPr/>
    </dgm:pt>
    <dgm:pt modelId="{5F576187-F8FC-4325-9ACA-D32314298504}" type="pres">
      <dgm:prSet presAssocID="{86B6D476-0222-F148-8B54-4427AE13227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7307F13-C3FA-D84F-A6EA-AC07362E6EAF}" type="presOf" srcId="{DD27C87E-2C64-9C4A-87DF-A524962D19D9}" destId="{4A85A5D5-70D6-4940-892A-A281CD3B1F97}" srcOrd="0" destOrd="0" presId="urn:microsoft.com/office/officeart/2018/2/layout/IconVerticalSolidList"/>
    <dgm:cxn modelId="{30B37A35-F3EF-1E4C-A6C6-38D7996D76F6}" srcId="{BAEF081D-D670-4524-928D-71EF01D25075}" destId="{128EB613-9575-6444-9178-668DFDA3C4F4}" srcOrd="0" destOrd="0" parTransId="{49386AED-20D4-AF40-A108-7C3BDE6884DA}" sibTransId="{CC613F3F-9D66-C043-B703-3060C2916390}"/>
    <dgm:cxn modelId="{62825C36-4408-4B45-A15D-3AEAF5B9800B}" srcId="{BAEF081D-D670-4524-928D-71EF01D25075}" destId="{E861F510-427F-554F-A38B-7DF4836477D6}" srcOrd="4" destOrd="0" parTransId="{2B47F94F-E09B-5747-A399-5CED742E3A4F}" sibTransId="{035C724B-D7EF-9647-A6D9-5BCD44CECA73}"/>
    <dgm:cxn modelId="{2365A069-63A5-4D46-A310-03F4456A577E}" type="presOf" srcId="{128EB613-9575-6444-9178-668DFDA3C4F4}" destId="{D130D355-5E15-452C-86C7-A7B9E8EAC6EC}" srcOrd="0" destOrd="0" presId="urn:microsoft.com/office/officeart/2018/2/layout/IconVerticalSolidList"/>
    <dgm:cxn modelId="{4139126E-79F1-5348-A074-A02EDE3EFC2D}" type="presOf" srcId="{86B6D476-0222-F148-8B54-4427AE13227B}" destId="{5F576187-F8FC-4325-9ACA-D32314298504}" srcOrd="0" destOrd="0" presId="urn:microsoft.com/office/officeart/2018/2/layout/IconVerticalSolidList"/>
    <dgm:cxn modelId="{29CE8589-D681-BB41-9364-03A501ECDD86}" srcId="{BAEF081D-D670-4524-928D-71EF01D25075}" destId="{86B6D476-0222-F148-8B54-4427AE13227B}" srcOrd="5" destOrd="0" parTransId="{F5F1FF1B-C6C0-A24F-A54C-0153A8F62466}" sibTransId="{AED9FE84-87DE-624F-BE73-28CF7F51DB08}"/>
    <dgm:cxn modelId="{09F5EF9F-FEF9-D949-906F-2F842ADAC7F1}" type="presOf" srcId="{927929CC-1F6A-7044-9AD2-ED4708BD2D44}" destId="{7ED6436F-DA92-47BA-9CEF-12A51027F086}" srcOrd="0" destOrd="0" presId="urn:microsoft.com/office/officeart/2018/2/layout/IconVerticalSolidList"/>
    <dgm:cxn modelId="{4EC0C6A4-4DB1-FE4A-B938-F2AAF7273D33}" type="presOf" srcId="{257CFD20-90F3-7D48-9954-46ACBDD96AD8}" destId="{F8897793-2B73-4773-846C-3604DE40CAFC}" srcOrd="0" destOrd="0" presId="urn:microsoft.com/office/officeart/2018/2/layout/IconVerticalSolidList"/>
    <dgm:cxn modelId="{BE742BA9-FA92-3B49-A911-B44F7D16EEE4}" srcId="{BAEF081D-D670-4524-928D-71EF01D25075}" destId="{DD27C87E-2C64-9C4A-87DF-A524962D19D9}" srcOrd="3" destOrd="0" parTransId="{642CFECC-B2C6-5241-9008-7973291ADFC4}" sibTransId="{3756FC26-EBED-3044-8282-B0D04CACC0BC}"/>
    <dgm:cxn modelId="{815E58B8-50FE-184D-8810-FFD02D9B271E}" srcId="{BAEF081D-D670-4524-928D-71EF01D25075}" destId="{927929CC-1F6A-7044-9AD2-ED4708BD2D44}" srcOrd="1" destOrd="0" parTransId="{888B3345-27D6-2A45-B964-399BE1EB6E08}" sibTransId="{4153C863-44B5-F049-8254-7BEA050098A0}"/>
    <dgm:cxn modelId="{45DEA5C7-5C56-7F4D-A547-1C384AC53772}" type="presOf" srcId="{E861F510-427F-554F-A38B-7DF4836477D6}" destId="{D38913B4-0D7C-48B0-9A9B-C9F94B4D5416}" srcOrd="0" destOrd="0" presId="urn:microsoft.com/office/officeart/2018/2/layout/IconVerticalSolidList"/>
    <dgm:cxn modelId="{E7F51DE9-78AC-DD44-90FA-035ED8E8F0C4}" srcId="{BAEF081D-D670-4524-928D-71EF01D25075}" destId="{257CFD20-90F3-7D48-9954-46ACBDD96AD8}" srcOrd="2" destOrd="0" parTransId="{7B954452-252D-7648-8FFD-360D136FEBC5}" sibTransId="{BB9B2AE6-140F-8E41-AB78-16E23E3BB116}"/>
    <dgm:cxn modelId="{14909AEA-DD8E-DC45-B752-7A7A42B7EB15}" type="presOf" srcId="{BAEF081D-D670-4524-928D-71EF01D25075}" destId="{FA6F57A8-4DD8-4E3A-897E-9AC6018917EB}" srcOrd="0" destOrd="0" presId="urn:microsoft.com/office/officeart/2018/2/layout/IconVerticalSolidList"/>
    <dgm:cxn modelId="{2230A599-D12F-CA40-91DB-220DA807326C}" type="presParOf" srcId="{FA6F57A8-4DD8-4E3A-897E-9AC6018917EB}" destId="{759C8839-9284-4CAD-BD46-156777A895D2}" srcOrd="0" destOrd="0" presId="urn:microsoft.com/office/officeart/2018/2/layout/IconVerticalSolidList"/>
    <dgm:cxn modelId="{CDF83EC2-4CE3-7E43-95BA-3D990C8B9762}" type="presParOf" srcId="{759C8839-9284-4CAD-BD46-156777A895D2}" destId="{15A08A84-D7A0-450D-BC3E-5C1741EB5F7B}" srcOrd="0" destOrd="0" presId="urn:microsoft.com/office/officeart/2018/2/layout/IconVerticalSolidList"/>
    <dgm:cxn modelId="{F2D1A416-0929-EB4E-B547-CE06706F7A7B}" type="presParOf" srcId="{759C8839-9284-4CAD-BD46-156777A895D2}" destId="{964338EA-AEA7-4196-A464-93C444A523B5}" srcOrd="1" destOrd="0" presId="urn:microsoft.com/office/officeart/2018/2/layout/IconVerticalSolidList"/>
    <dgm:cxn modelId="{30A0E9A6-B388-4D41-9592-626E6AD76891}" type="presParOf" srcId="{759C8839-9284-4CAD-BD46-156777A895D2}" destId="{1F97239F-00C4-4D34-8A0E-4E836A210DE6}" srcOrd="2" destOrd="0" presId="urn:microsoft.com/office/officeart/2018/2/layout/IconVerticalSolidList"/>
    <dgm:cxn modelId="{4730BE33-9748-6E4C-824B-62076B3D6EE2}" type="presParOf" srcId="{759C8839-9284-4CAD-BD46-156777A895D2}" destId="{D130D355-5E15-452C-86C7-A7B9E8EAC6EC}" srcOrd="3" destOrd="0" presId="urn:microsoft.com/office/officeart/2018/2/layout/IconVerticalSolidList"/>
    <dgm:cxn modelId="{FA958D4C-145C-024B-93BE-BFC4E679EB71}" type="presParOf" srcId="{FA6F57A8-4DD8-4E3A-897E-9AC6018917EB}" destId="{C226AEC2-13DD-4276-87D2-B7F46769EA34}" srcOrd="1" destOrd="0" presId="urn:microsoft.com/office/officeart/2018/2/layout/IconVerticalSolidList"/>
    <dgm:cxn modelId="{52508BCE-08D0-1945-B21C-504FE540F91D}" type="presParOf" srcId="{FA6F57A8-4DD8-4E3A-897E-9AC6018917EB}" destId="{03C120AC-8605-4C92-8E05-C2458EDA43FA}" srcOrd="2" destOrd="0" presId="urn:microsoft.com/office/officeart/2018/2/layout/IconVerticalSolidList"/>
    <dgm:cxn modelId="{AAA7DB9B-B3BB-894B-BA95-C7B4AFA3A71F}" type="presParOf" srcId="{03C120AC-8605-4C92-8E05-C2458EDA43FA}" destId="{B9E6492C-8DCD-4029-A9F2-5D9FE36240A7}" srcOrd="0" destOrd="0" presId="urn:microsoft.com/office/officeart/2018/2/layout/IconVerticalSolidList"/>
    <dgm:cxn modelId="{61B6309D-4E56-4042-920B-BDA6930A8F04}" type="presParOf" srcId="{03C120AC-8605-4C92-8E05-C2458EDA43FA}" destId="{C5687ABB-89A3-4EAF-A9FE-E3D43BEA8568}" srcOrd="1" destOrd="0" presId="urn:microsoft.com/office/officeart/2018/2/layout/IconVerticalSolidList"/>
    <dgm:cxn modelId="{E0EA0C86-9A70-E745-8880-EDF0A0097B3E}" type="presParOf" srcId="{03C120AC-8605-4C92-8E05-C2458EDA43FA}" destId="{4E43492F-7044-4DF5-ADBB-72ABBB69B673}" srcOrd="2" destOrd="0" presId="urn:microsoft.com/office/officeart/2018/2/layout/IconVerticalSolidList"/>
    <dgm:cxn modelId="{8B24B180-63D5-B04D-841D-0125D471C0C5}" type="presParOf" srcId="{03C120AC-8605-4C92-8E05-C2458EDA43FA}" destId="{7ED6436F-DA92-47BA-9CEF-12A51027F086}" srcOrd="3" destOrd="0" presId="urn:microsoft.com/office/officeart/2018/2/layout/IconVerticalSolidList"/>
    <dgm:cxn modelId="{781C7A00-6423-5F41-8F26-7129EFAB272C}" type="presParOf" srcId="{FA6F57A8-4DD8-4E3A-897E-9AC6018917EB}" destId="{9D2CE9FD-07A0-4AA7-B948-7D5D3321186B}" srcOrd="3" destOrd="0" presId="urn:microsoft.com/office/officeart/2018/2/layout/IconVerticalSolidList"/>
    <dgm:cxn modelId="{1A57294A-4811-2A41-82E8-785CE1582499}" type="presParOf" srcId="{FA6F57A8-4DD8-4E3A-897E-9AC6018917EB}" destId="{B9C65F19-6D11-4B86-B14A-05B007139393}" srcOrd="4" destOrd="0" presId="urn:microsoft.com/office/officeart/2018/2/layout/IconVerticalSolidList"/>
    <dgm:cxn modelId="{A91E8430-F756-014B-9217-2F280BF94335}" type="presParOf" srcId="{B9C65F19-6D11-4B86-B14A-05B007139393}" destId="{4355F676-8C4D-462B-AF7B-EEF5B9AF61A6}" srcOrd="0" destOrd="0" presId="urn:microsoft.com/office/officeart/2018/2/layout/IconVerticalSolidList"/>
    <dgm:cxn modelId="{00BA23A9-719D-BA4D-BDE5-19A78D17246F}" type="presParOf" srcId="{B9C65F19-6D11-4B86-B14A-05B007139393}" destId="{EB1FE181-0EDC-43CB-91A3-92E0EBDC8C43}" srcOrd="1" destOrd="0" presId="urn:microsoft.com/office/officeart/2018/2/layout/IconVerticalSolidList"/>
    <dgm:cxn modelId="{76C504D0-32D4-1842-85C1-9EC691D261B9}" type="presParOf" srcId="{B9C65F19-6D11-4B86-B14A-05B007139393}" destId="{908FF772-2D1E-4471-8E23-D10DAC150409}" srcOrd="2" destOrd="0" presId="urn:microsoft.com/office/officeart/2018/2/layout/IconVerticalSolidList"/>
    <dgm:cxn modelId="{E54DB4CA-4FD5-B348-B4DD-490D3075F05C}" type="presParOf" srcId="{B9C65F19-6D11-4B86-B14A-05B007139393}" destId="{F8897793-2B73-4773-846C-3604DE40CAFC}" srcOrd="3" destOrd="0" presId="urn:microsoft.com/office/officeart/2018/2/layout/IconVerticalSolidList"/>
    <dgm:cxn modelId="{B6216FCD-41AD-E14D-886E-C499B1D43353}" type="presParOf" srcId="{FA6F57A8-4DD8-4E3A-897E-9AC6018917EB}" destId="{56367626-F310-4FDB-B724-B0A85C4E2AA6}" srcOrd="5" destOrd="0" presId="urn:microsoft.com/office/officeart/2018/2/layout/IconVerticalSolidList"/>
    <dgm:cxn modelId="{D1855488-235F-FA48-BB79-2E29038EE41D}" type="presParOf" srcId="{FA6F57A8-4DD8-4E3A-897E-9AC6018917EB}" destId="{5C0FEC69-882D-4CAD-B478-A9DF73A96FB1}" srcOrd="6" destOrd="0" presId="urn:microsoft.com/office/officeart/2018/2/layout/IconVerticalSolidList"/>
    <dgm:cxn modelId="{48302A91-8A4E-F441-B42A-C6D321A30979}" type="presParOf" srcId="{5C0FEC69-882D-4CAD-B478-A9DF73A96FB1}" destId="{3EB9B8EB-1243-4F2C-94D8-5C1BEC2A7887}" srcOrd="0" destOrd="0" presId="urn:microsoft.com/office/officeart/2018/2/layout/IconVerticalSolidList"/>
    <dgm:cxn modelId="{620DB646-1B98-814A-8086-AC8F1CBFBF32}" type="presParOf" srcId="{5C0FEC69-882D-4CAD-B478-A9DF73A96FB1}" destId="{4770A8E0-E0AC-4039-9DC0-29E6CCE64E26}" srcOrd="1" destOrd="0" presId="urn:microsoft.com/office/officeart/2018/2/layout/IconVerticalSolidList"/>
    <dgm:cxn modelId="{1584961C-B20E-4642-B122-F842E81889F2}" type="presParOf" srcId="{5C0FEC69-882D-4CAD-B478-A9DF73A96FB1}" destId="{4E095F13-04EA-4F02-885C-0BC64F835E7C}" srcOrd="2" destOrd="0" presId="urn:microsoft.com/office/officeart/2018/2/layout/IconVerticalSolidList"/>
    <dgm:cxn modelId="{ABC495AC-3AD7-8E41-8509-D587F3B651B3}" type="presParOf" srcId="{5C0FEC69-882D-4CAD-B478-A9DF73A96FB1}" destId="{4A85A5D5-70D6-4940-892A-A281CD3B1F97}" srcOrd="3" destOrd="0" presId="urn:microsoft.com/office/officeart/2018/2/layout/IconVerticalSolidList"/>
    <dgm:cxn modelId="{106421C9-29B1-4843-9EE4-6B7FDE0CD0E5}" type="presParOf" srcId="{FA6F57A8-4DD8-4E3A-897E-9AC6018917EB}" destId="{FB828FBD-149E-4BB4-8E71-2556696AB5C2}" srcOrd="7" destOrd="0" presId="urn:microsoft.com/office/officeart/2018/2/layout/IconVerticalSolidList"/>
    <dgm:cxn modelId="{9FFFF6C8-0AFC-784C-B286-15CCC6831C1F}" type="presParOf" srcId="{FA6F57A8-4DD8-4E3A-897E-9AC6018917EB}" destId="{5DF7ADC8-838B-489F-AE55-1887B1B936A5}" srcOrd="8" destOrd="0" presId="urn:microsoft.com/office/officeart/2018/2/layout/IconVerticalSolidList"/>
    <dgm:cxn modelId="{7C3997F7-F89E-5F45-9E4A-2F44940ADE0C}" type="presParOf" srcId="{5DF7ADC8-838B-489F-AE55-1887B1B936A5}" destId="{12664405-FBBC-4CA1-9927-D1636ADA6EB0}" srcOrd="0" destOrd="0" presId="urn:microsoft.com/office/officeart/2018/2/layout/IconVerticalSolidList"/>
    <dgm:cxn modelId="{06CA2371-6BC9-6846-9D83-E7FB5EB6EC35}" type="presParOf" srcId="{5DF7ADC8-838B-489F-AE55-1887B1B936A5}" destId="{4B573FBA-4600-4D46-A29B-1FACCA257876}" srcOrd="1" destOrd="0" presId="urn:microsoft.com/office/officeart/2018/2/layout/IconVerticalSolidList"/>
    <dgm:cxn modelId="{036BBA56-262E-BB4B-8B1B-38C01E850542}" type="presParOf" srcId="{5DF7ADC8-838B-489F-AE55-1887B1B936A5}" destId="{450503E2-7A7A-4417-98AF-D2E8A522F38E}" srcOrd="2" destOrd="0" presId="urn:microsoft.com/office/officeart/2018/2/layout/IconVerticalSolidList"/>
    <dgm:cxn modelId="{5C0765E9-CD62-E54F-91AF-943B6DCF15C4}" type="presParOf" srcId="{5DF7ADC8-838B-489F-AE55-1887B1B936A5}" destId="{D38913B4-0D7C-48B0-9A9B-C9F94B4D5416}" srcOrd="3" destOrd="0" presId="urn:microsoft.com/office/officeart/2018/2/layout/IconVerticalSolidList"/>
    <dgm:cxn modelId="{3083C43A-41B3-F74F-A535-03F4FB4037DD}" type="presParOf" srcId="{FA6F57A8-4DD8-4E3A-897E-9AC6018917EB}" destId="{69A88603-F045-4BAA-AD42-19A98C5E199F}" srcOrd="9" destOrd="0" presId="urn:microsoft.com/office/officeart/2018/2/layout/IconVerticalSolidList"/>
    <dgm:cxn modelId="{D0CA7C82-391C-AA43-9EFB-9104459B2DB6}" type="presParOf" srcId="{FA6F57A8-4DD8-4E3A-897E-9AC6018917EB}" destId="{2D97F5E9-1305-4EAF-87C1-7FE0D7775ECE}" srcOrd="10" destOrd="0" presId="urn:microsoft.com/office/officeart/2018/2/layout/IconVerticalSolidList"/>
    <dgm:cxn modelId="{668A1175-87CE-0A4D-9E10-04A7420EFC02}" type="presParOf" srcId="{2D97F5E9-1305-4EAF-87C1-7FE0D7775ECE}" destId="{64825FD5-A790-41BC-A02A-81B2CBA73C88}" srcOrd="0" destOrd="0" presId="urn:microsoft.com/office/officeart/2018/2/layout/IconVerticalSolidList"/>
    <dgm:cxn modelId="{20211432-0269-BE4D-99D6-1D4DB98BF731}" type="presParOf" srcId="{2D97F5E9-1305-4EAF-87C1-7FE0D7775ECE}" destId="{F932A9D9-F8D0-4D9E-81D1-1DFF980F36A2}" srcOrd="1" destOrd="0" presId="urn:microsoft.com/office/officeart/2018/2/layout/IconVerticalSolidList"/>
    <dgm:cxn modelId="{BEAFFBAE-1E57-4F48-B802-955711C15FD3}" type="presParOf" srcId="{2D97F5E9-1305-4EAF-87C1-7FE0D7775ECE}" destId="{FAFDE4A6-C5EF-4F3C-936C-29DE6617B232}" srcOrd="2" destOrd="0" presId="urn:microsoft.com/office/officeart/2018/2/layout/IconVerticalSolidList"/>
    <dgm:cxn modelId="{087E8EF1-F127-B94B-8FD7-14BCACDE1E27}" type="presParOf" srcId="{2D97F5E9-1305-4EAF-87C1-7FE0D7775ECE}" destId="{5F576187-F8FC-4325-9ACA-D323142985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B00CA-E569-493D-B1D6-AB53801C4A85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98E49-D9EA-4041-BFA4-3D267913EB2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86392-FDB6-4073-A517-4CE4D21C7124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LSTM &amp; GRU capture long patterns.</a:t>
          </a:r>
        </a:p>
      </dsp:txBody>
      <dsp:txXfrm>
        <a:off x="1339618" y="2288"/>
        <a:ext cx="3433549" cy="1159843"/>
      </dsp:txXfrm>
    </dsp:sp>
    <dsp:sp modelId="{D6BB7307-BA48-400E-B214-DBC7790D9BBD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E7A3E-D463-4AA3-9A3E-3FA421F55CE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D5F1F-08A6-40CD-84DF-B8C132FF1294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Hybrid CNN–GRU improves accuracy.</a:t>
          </a:r>
        </a:p>
      </dsp:txBody>
      <dsp:txXfrm>
        <a:off x="1339618" y="1452092"/>
        <a:ext cx="3433549" cy="1159843"/>
      </dsp:txXfrm>
    </dsp:sp>
    <dsp:sp modelId="{167EFA61-4B13-4BB4-8D2F-D53DB826B871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F85A8-B7EA-414A-A208-CECE6E7BF152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A736A-75E7-4D8C-9F94-FD14BE4B6BCF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Transformers strong in volatile markets.</a:t>
          </a:r>
        </a:p>
      </dsp:txBody>
      <dsp:txXfrm>
        <a:off x="1339618" y="2901896"/>
        <a:ext cx="3433549" cy="1159843"/>
      </dsp:txXfrm>
    </dsp:sp>
    <dsp:sp modelId="{7CFE5717-6CE4-4DF7-A542-5195B81FB8F1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B0B8B3-9E0F-46B1-91E6-F01CFF8E3B75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73984-667A-405C-8707-8871F6E4941D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ARIMA struggles with nonlinear patterns.</a:t>
          </a:r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BF065-2C4D-41AD-B4E0-F09768BE6997}">
      <dsp:nvSpPr>
        <dsp:cNvPr id="0" name=""/>
        <dsp:cNvSpPr/>
      </dsp:nvSpPr>
      <dsp:spPr>
        <a:xfrm>
          <a:off x="0" y="2258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FF76C-7962-4DA2-96A2-925504CECAE3}">
      <dsp:nvSpPr>
        <dsp:cNvPr id="0" name=""/>
        <dsp:cNvSpPr/>
      </dsp:nvSpPr>
      <dsp:spPr>
        <a:xfrm>
          <a:off x="346197" y="259760"/>
          <a:ext cx="629450" cy="6294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A8C5A-A2B9-40AC-B3D1-BF1790B04014}">
      <dsp:nvSpPr>
        <dsp:cNvPr id="0" name=""/>
        <dsp:cNvSpPr/>
      </dsp:nvSpPr>
      <dsp:spPr>
        <a:xfrm>
          <a:off x="1321846" y="2258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XGBoost strong for directional forecasting.</a:t>
          </a:r>
        </a:p>
      </dsp:txBody>
      <dsp:txXfrm>
        <a:off x="1321846" y="2258"/>
        <a:ext cx="3801079" cy="1144455"/>
      </dsp:txXfrm>
    </dsp:sp>
    <dsp:sp modelId="{B16A8444-842F-4A71-A80A-DFB97A9B733E}">
      <dsp:nvSpPr>
        <dsp:cNvPr id="0" name=""/>
        <dsp:cNvSpPr/>
      </dsp:nvSpPr>
      <dsp:spPr>
        <a:xfrm>
          <a:off x="0" y="1432827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070223-9B95-437B-862B-F86F3DE5667E}">
      <dsp:nvSpPr>
        <dsp:cNvPr id="0" name=""/>
        <dsp:cNvSpPr/>
      </dsp:nvSpPr>
      <dsp:spPr>
        <a:xfrm>
          <a:off x="346197" y="1690330"/>
          <a:ext cx="629450" cy="6294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DAA97-D4A5-47CC-AE3E-5B1A874B3DDD}">
      <dsp:nvSpPr>
        <dsp:cNvPr id="0" name=""/>
        <dsp:cNvSpPr/>
      </dsp:nvSpPr>
      <dsp:spPr>
        <a:xfrm>
          <a:off x="1321846" y="1432827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ARIMA + XGBoost hybrids stable.</a:t>
          </a:r>
        </a:p>
      </dsp:txBody>
      <dsp:txXfrm>
        <a:off x="1321846" y="1432827"/>
        <a:ext cx="3801079" cy="1144455"/>
      </dsp:txXfrm>
    </dsp:sp>
    <dsp:sp modelId="{88E660EF-5AE6-4B76-87D2-AAE4AF0DB6A9}">
      <dsp:nvSpPr>
        <dsp:cNvPr id="0" name=""/>
        <dsp:cNvSpPr/>
      </dsp:nvSpPr>
      <dsp:spPr>
        <a:xfrm>
          <a:off x="0" y="286339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6171B-833B-454F-91AA-ED43F9CA6DBD}">
      <dsp:nvSpPr>
        <dsp:cNvPr id="0" name=""/>
        <dsp:cNvSpPr/>
      </dsp:nvSpPr>
      <dsp:spPr>
        <a:xfrm>
          <a:off x="346197" y="3120899"/>
          <a:ext cx="629450" cy="6294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91149-2A44-4E9F-B9DC-7B022C8B020E}">
      <dsp:nvSpPr>
        <dsp:cNvPr id="0" name=""/>
        <dsp:cNvSpPr/>
      </dsp:nvSpPr>
      <dsp:spPr>
        <a:xfrm>
          <a:off x="1321846" y="286339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Cross-stock learning effective.</a:t>
          </a:r>
        </a:p>
      </dsp:txBody>
      <dsp:txXfrm>
        <a:off x="1321846" y="2863396"/>
        <a:ext cx="3801079" cy="1144455"/>
      </dsp:txXfrm>
    </dsp:sp>
    <dsp:sp modelId="{E6B4F710-10F0-4D8D-9ED8-517EABE2077F}">
      <dsp:nvSpPr>
        <dsp:cNvPr id="0" name=""/>
        <dsp:cNvSpPr/>
      </dsp:nvSpPr>
      <dsp:spPr>
        <a:xfrm>
          <a:off x="0" y="429396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FD9D2-5967-41E8-B73F-BFB5DD8608D8}">
      <dsp:nvSpPr>
        <dsp:cNvPr id="0" name=""/>
        <dsp:cNvSpPr/>
      </dsp:nvSpPr>
      <dsp:spPr>
        <a:xfrm>
          <a:off x="346197" y="4551468"/>
          <a:ext cx="629450" cy="6294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F65BA-4070-490B-8E3E-D9FAA947DC53}">
      <dsp:nvSpPr>
        <dsp:cNvPr id="0" name=""/>
        <dsp:cNvSpPr/>
      </dsp:nvSpPr>
      <dsp:spPr>
        <a:xfrm>
          <a:off x="1321846" y="429396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LSTM/RNN models overfit noisy data.</a:t>
          </a:r>
        </a:p>
      </dsp:txBody>
      <dsp:txXfrm>
        <a:off x="1321846" y="4293966"/>
        <a:ext cx="3801079" cy="11444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5E8508-8465-4ABC-9BAE-CFC85D6390C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BD0EA-A179-4DBD-8380-40271C6FFECB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DA5D3-3462-4B0C-95D0-4102CDBADF8C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ADF test for stationarity.</a:t>
          </a:r>
        </a:p>
      </dsp:txBody>
      <dsp:txXfrm>
        <a:off x="1493203" y="552"/>
        <a:ext cx="6736396" cy="1292816"/>
      </dsp:txXfrm>
    </dsp:sp>
    <dsp:sp modelId="{68BD59BE-5901-42E8-A607-6B8E8B0BA28B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C5503-62B8-4914-844F-A13771996989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CA3B1-936F-43F3-B64F-DC73DDA5CA7F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PP test for unit root.</a:t>
          </a:r>
        </a:p>
      </dsp:txBody>
      <dsp:txXfrm>
        <a:off x="1493203" y="1616573"/>
        <a:ext cx="6736396" cy="1292816"/>
      </dsp:txXfrm>
    </dsp:sp>
    <dsp:sp modelId="{CFD16604-39B2-41AD-832F-DF321B1F39D3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49F95-4F21-44D4-A7C9-8A160FEB7A6A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00DFE-E696-4452-B485-C963447260AD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CUSUM/Chow for structural breaks.</a:t>
          </a:r>
        </a:p>
      </dsp:txBody>
      <dsp:txXfrm>
        <a:off x="1493203" y="3232593"/>
        <a:ext cx="6736396" cy="12928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9FD5F-DAD2-400F-932E-577891C874CD}">
      <dsp:nvSpPr>
        <dsp:cNvPr id="0" name=""/>
        <dsp:cNvSpPr/>
      </dsp:nvSpPr>
      <dsp:spPr>
        <a:xfrm>
          <a:off x="563207" y="380"/>
          <a:ext cx="793476" cy="7934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13736-65C3-405A-9A72-73AF20730C21}">
      <dsp:nvSpPr>
        <dsp:cNvPr id="0" name=""/>
        <dsp:cNvSpPr/>
      </dsp:nvSpPr>
      <dsp:spPr>
        <a:xfrm>
          <a:off x="732309" y="169482"/>
          <a:ext cx="455273" cy="4552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5F6B0-8255-4114-823F-920B417E0299}">
      <dsp:nvSpPr>
        <dsp:cNvPr id="0" name=""/>
        <dsp:cNvSpPr/>
      </dsp:nvSpPr>
      <dsp:spPr>
        <a:xfrm>
          <a:off x="309555" y="1041005"/>
          <a:ext cx="1300781" cy="52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Trained on ALL DSE stocks.</a:t>
          </a:r>
        </a:p>
      </dsp:txBody>
      <dsp:txXfrm>
        <a:off x="309555" y="1041005"/>
        <a:ext cx="1300781" cy="520312"/>
      </dsp:txXfrm>
    </dsp:sp>
    <dsp:sp modelId="{883811E5-EC5A-4132-951A-534054BE5509}">
      <dsp:nvSpPr>
        <dsp:cNvPr id="0" name=""/>
        <dsp:cNvSpPr/>
      </dsp:nvSpPr>
      <dsp:spPr>
        <a:xfrm>
          <a:off x="2091625" y="380"/>
          <a:ext cx="793476" cy="7934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710AC-42BB-48CB-81DF-0C701E7AF96A}">
      <dsp:nvSpPr>
        <dsp:cNvPr id="0" name=""/>
        <dsp:cNvSpPr/>
      </dsp:nvSpPr>
      <dsp:spPr>
        <a:xfrm>
          <a:off x="2260727" y="169482"/>
          <a:ext cx="455273" cy="4552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43283-D82A-461A-822D-6A6D4A5CC09D}">
      <dsp:nvSpPr>
        <dsp:cNvPr id="0" name=""/>
        <dsp:cNvSpPr/>
      </dsp:nvSpPr>
      <dsp:spPr>
        <a:xfrm>
          <a:off x="1837973" y="1041005"/>
          <a:ext cx="1300781" cy="52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Features: SMA, EMA, MACD, RSI, lags, volume.</a:t>
          </a:r>
        </a:p>
      </dsp:txBody>
      <dsp:txXfrm>
        <a:off x="1837973" y="1041005"/>
        <a:ext cx="1300781" cy="520312"/>
      </dsp:txXfrm>
    </dsp:sp>
    <dsp:sp modelId="{617350C3-EA00-4BA0-BCB0-C86B4645184C}">
      <dsp:nvSpPr>
        <dsp:cNvPr id="0" name=""/>
        <dsp:cNvSpPr/>
      </dsp:nvSpPr>
      <dsp:spPr>
        <a:xfrm>
          <a:off x="1327416" y="1886513"/>
          <a:ext cx="793476" cy="7934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0C982-5DE2-4B34-BBA3-960380371849}">
      <dsp:nvSpPr>
        <dsp:cNvPr id="0" name=""/>
        <dsp:cNvSpPr/>
      </dsp:nvSpPr>
      <dsp:spPr>
        <a:xfrm>
          <a:off x="1496518" y="2055615"/>
          <a:ext cx="455273" cy="4552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3B3BB-27C2-4810-A8F8-B146AF6E17F5}">
      <dsp:nvSpPr>
        <dsp:cNvPr id="0" name=""/>
        <dsp:cNvSpPr/>
      </dsp:nvSpPr>
      <dsp:spPr>
        <a:xfrm>
          <a:off x="1073764" y="2927138"/>
          <a:ext cx="1300781" cy="52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R² = 0.9571, RMSE = 113.97.</a:t>
          </a:r>
        </a:p>
      </dsp:txBody>
      <dsp:txXfrm>
        <a:off x="1073764" y="2927138"/>
        <a:ext cx="1300781" cy="5203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5C3E6C-C486-416A-A678-1CB28F94C3D7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F7223B-EE87-4A92-B236-4FD51D4FBD7D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08284-5BF6-420F-A2F4-CCEAED2B3A33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Raw data non-stationary with structural breaks.</a:t>
          </a:r>
          <a:endParaRPr lang="en-US" sz="2200" kern="1200" dirty="0"/>
        </a:p>
      </dsp:txBody>
      <dsp:txXfrm>
        <a:off x="1099610" y="1878"/>
        <a:ext cx="7129989" cy="952043"/>
      </dsp:txXfrm>
    </dsp:sp>
    <dsp:sp modelId="{749719F6-0F8C-429C-8A78-4FFD83589603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63F31-22BD-47E1-9564-3DBD6EE40879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9F8E1-C98C-4317-BBDF-B2430A992F79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OLS best model for next-day prediction.</a:t>
          </a:r>
        </a:p>
      </dsp:txBody>
      <dsp:txXfrm>
        <a:off x="1099610" y="1191932"/>
        <a:ext cx="7129989" cy="952043"/>
      </dsp:txXfrm>
    </dsp:sp>
    <dsp:sp modelId="{4BA77FB6-B72B-4074-80B7-ADBF34984F8E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04397-9F4B-4D32-AA00-932CA6A9F432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B7836-5A18-43FE-AA59-59684B901C99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RF &amp; XGB overfit.</a:t>
          </a:r>
        </a:p>
      </dsp:txBody>
      <dsp:txXfrm>
        <a:off x="1099610" y="2381986"/>
        <a:ext cx="7129989" cy="952043"/>
      </dsp:txXfrm>
    </dsp:sp>
    <dsp:sp modelId="{F10C31EF-8A2B-40EB-B524-3A1805931B34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C3570-A094-40B6-9699-12907DAA3D96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B66FF-045F-4AAB-BA8C-794EA325C551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Multi-stock XGBoost improves generalization.</a:t>
          </a:r>
          <a:endParaRPr lang="en-US" sz="2200" kern="1200" dirty="0"/>
        </a:p>
      </dsp:txBody>
      <dsp:txXfrm>
        <a:off x="1099610" y="3572041"/>
        <a:ext cx="7129989" cy="9520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08A84-D7A0-450D-BC3E-5C1741EB5F7B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338EA-AEA7-4196-A464-93C444A523B5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0D355-5E15-452C-86C7-A7B9E8EAC6EC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Future improvements:</a:t>
          </a:r>
        </a:p>
      </dsp:txBody>
      <dsp:txXfrm>
        <a:off x="889864" y="1808"/>
        <a:ext cx="3794084" cy="770445"/>
      </dsp:txXfrm>
    </dsp:sp>
    <dsp:sp modelId="{B9E6492C-8DCD-4029-A9F2-5D9FE36240A7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87ABB-89A3-4EAF-A9FE-E3D43BEA8568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6436F-DA92-47BA-9CEF-12A51027F086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Use Transformers, GRU, hybrid DL models</a:t>
          </a:r>
        </a:p>
      </dsp:txBody>
      <dsp:txXfrm>
        <a:off x="889864" y="964865"/>
        <a:ext cx="3794084" cy="770445"/>
      </dsp:txXfrm>
    </dsp:sp>
    <dsp:sp modelId="{4355F676-8C4D-462B-AF7B-EEF5B9AF61A6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FE181-0EDC-43CB-91A3-92E0EBDC8C43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97793-2B73-4773-846C-3604DE40CAFC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Multi-step forecasting (1–10 days ahead)</a:t>
          </a:r>
        </a:p>
      </dsp:txBody>
      <dsp:txXfrm>
        <a:off x="889864" y="1927922"/>
        <a:ext cx="3794084" cy="770445"/>
      </dsp:txXfrm>
    </dsp:sp>
    <dsp:sp modelId="{3EB9B8EB-1243-4F2C-94D8-5C1BEC2A7887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0A8E0-E0AC-4039-9DC0-29E6CCE64E26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5A5D5-70D6-4940-892A-A281CD3B1F97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Add macroeconomic and sentiment indicators</a:t>
          </a:r>
        </a:p>
      </dsp:txBody>
      <dsp:txXfrm>
        <a:off x="889864" y="2890979"/>
        <a:ext cx="3794084" cy="770445"/>
      </dsp:txXfrm>
    </dsp:sp>
    <dsp:sp modelId="{12664405-FBBC-4CA1-9927-D1636ADA6EB0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73FBA-4600-4D46-A29B-1FACCA257876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913B4-0D7C-48B0-9A9B-C9F94B4D5416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Explore regime-switching models for structural breaks</a:t>
          </a:r>
        </a:p>
      </dsp:txBody>
      <dsp:txXfrm>
        <a:off x="889864" y="3854036"/>
        <a:ext cx="3794084" cy="770445"/>
      </dsp:txXfrm>
    </dsp:sp>
    <dsp:sp modelId="{64825FD5-A790-41BC-A02A-81B2CBA73C88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2A9D9-F8D0-4D9E-81D1-1DFF980F36A2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76187-F8FC-4325-9ACA-D32314298504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Tune LSTM with attention mechanisms</a:t>
          </a:r>
        </a:p>
      </dsp:txBody>
      <dsp:txXfrm>
        <a:off x="889864" y="4817093"/>
        <a:ext cx="3794084" cy="770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C29E-3D57-4A97-BD21-554F2BF0E443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0C229-C913-4F97-A5AE-B251029FE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63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0C229-C913-4F97-A5AE-B251029FE5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61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586822"/>
            <a:ext cx="2743200" cy="1645920"/>
          </a:xfrm>
        </p:spPr>
        <p:txBody>
          <a:bodyPr>
            <a:normAutofit/>
          </a:bodyPr>
          <a:lstStyle/>
          <a:p>
            <a:r>
              <a:rPr lang="en-GB" sz="2800"/>
              <a:t>Stock Price Prediction of BEXIMCO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579" y="586822"/>
            <a:ext cx="4580057" cy="1645920"/>
          </a:xfrm>
        </p:spPr>
        <p:txBody>
          <a:bodyPr anchor="ctr">
            <a:normAutofit/>
          </a:bodyPr>
          <a:lstStyle/>
          <a:p>
            <a:r>
              <a:rPr lang="en-GB" sz="1600" dirty="0"/>
              <a:t>Using Statistical </a:t>
            </a:r>
            <a:r>
              <a:rPr lang="en-GB" sz="1600"/>
              <a:t>Tests,Single</a:t>
            </a:r>
            <a:r>
              <a:rPr lang="en-GB" sz="1600" dirty="0"/>
              <a:t> stock prediction using </a:t>
            </a:r>
            <a:r>
              <a:rPr lang="en-GB" sz="1600"/>
              <a:t>OLS,Random</a:t>
            </a:r>
            <a:r>
              <a:rPr lang="en-GB" sz="1600" dirty="0"/>
              <a:t> </a:t>
            </a:r>
            <a:r>
              <a:rPr lang="en-GB" sz="1600"/>
              <a:t>Forest,XGBOSST</a:t>
            </a:r>
            <a:r>
              <a:rPr lang="en-GB" sz="1600" dirty="0"/>
              <a:t>, LSTM,</a:t>
            </a:r>
            <a:endParaRPr lang="en-GB" sz="1600"/>
          </a:p>
          <a:p>
            <a:r>
              <a:rPr lang="en-GB" sz="1600" dirty="0"/>
              <a:t>and a Multi-Stock </a:t>
            </a:r>
            <a:r>
              <a:rPr lang="en-GB" sz="1600"/>
              <a:t>XGBoost</a:t>
            </a:r>
            <a:r>
              <a:rPr lang="en-GB" sz="1600" dirty="0"/>
              <a:t> Framework</a:t>
            </a:r>
            <a:endParaRPr lang="en-GB" sz="1600"/>
          </a:p>
          <a:p>
            <a:endParaRPr lang="en-GB" sz="1600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5AD11F0A-1D73-E711-A4CF-33162F42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35" r="29588" b="-1"/>
          <a:stretch>
            <a:fillRect/>
          </a:stretch>
        </p:blipFill>
        <p:spPr>
          <a:xfrm>
            <a:off x="1459365" y="2729397"/>
            <a:ext cx="2029076" cy="34838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377F88-8679-1511-34ED-38AE2FFBD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05627"/>
              </p:ext>
            </p:extLst>
          </p:nvPr>
        </p:nvGraphicFramePr>
        <p:xfrm>
          <a:off x="-2068992" y="2811730"/>
          <a:ext cx="602142" cy="220101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48">
                  <a:extLst>
                    <a:ext uri="{9D8B030D-6E8A-4147-A177-3AD203B41FA5}">
                      <a16:colId xmlns:a16="http://schemas.microsoft.com/office/drawing/2014/main" val="3989091074"/>
                    </a:ext>
                  </a:extLst>
                </a:gridCol>
                <a:gridCol w="333294">
                  <a:extLst>
                    <a:ext uri="{9D8B030D-6E8A-4147-A177-3AD203B41FA5}">
                      <a16:colId xmlns:a16="http://schemas.microsoft.com/office/drawing/2014/main" val="1125524950"/>
                    </a:ext>
                  </a:extLst>
                </a:gridCol>
              </a:tblGrid>
              <a:tr h="3601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200" b="1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841" marR="128607" marT="32812" marB="24608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BD" sz="2200" cap="none" spc="0" dirty="0">
                        <a:solidFill>
                          <a:schemeClr val="tx1"/>
                        </a:solidFill>
                        <a:effectLst/>
                        <a:latin typeface=".AppleSystemUIFont"/>
                      </a:endParaRPr>
                    </a:p>
                  </a:txBody>
                  <a:tcPr marL="114841" marR="128607" marT="32812" marB="246087"/>
                </a:tc>
                <a:extLst>
                  <a:ext uri="{0D108BD9-81ED-4DB2-BD59-A6C34878D82A}">
                    <a16:rowId xmlns:a16="http://schemas.microsoft.com/office/drawing/2014/main" val="1234684843"/>
                  </a:ext>
                </a:extLst>
              </a:tr>
              <a:tr h="7934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200" cap="none" spc="0" dirty="0">
                        <a:solidFill>
                          <a:schemeClr val="tx1"/>
                        </a:solidFill>
                        <a:effectLst/>
                        <a:latin typeface=".AppleSystemUIFont"/>
                      </a:endParaRPr>
                    </a:p>
                  </a:txBody>
                  <a:tcPr marL="114841" marR="128607" marT="32812" marB="24608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D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841" marR="128607" marT="32812" marB="246087"/>
                </a:tc>
                <a:extLst>
                  <a:ext uri="{0D108BD9-81ED-4DB2-BD59-A6C34878D82A}">
                    <a16:rowId xmlns:a16="http://schemas.microsoft.com/office/drawing/2014/main" val="1772470533"/>
                  </a:ext>
                </a:extLst>
              </a:tr>
              <a:tr h="7934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200" cap="none" spc="0" dirty="0">
                        <a:solidFill>
                          <a:schemeClr val="tx1"/>
                        </a:solidFill>
                        <a:effectLst/>
                        <a:latin typeface=".AppleSystemUIFont"/>
                      </a:endParaRPr>
                    </a:p>
                  </a:txBody>
                  <a:tcPr marL="114841" marR="128607" marT="32812" marB="24608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BD" sz="2200" cap="none" spc="0" dirty="0">
                        <a:solidFill>
                          <a:schemeClr val="tx1"/>
                        </a:solidFill>
                        <a:effectLst/>
                        <a:latin typeface=".AppleSystemUIFont"/>
                      </a:endParaRPr>
                    </a:p>
                  </a:txBody>
                  <a:tcPr marL="114841" marR="128607" marT="32812" marB="246087"/>
                </a:tc>
                <a:extLst>
                  <a:ext uri="{0D108BD9-81ED-4DB2-BD59-A6C34878D82A}">
                    <a16:rowId xmlns:a16="http://schemas.microsoft.com/office/drawing/2014/main" val="1874030544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0F3CF90-6FD8-420B-A527-365DFEC19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244598"/>
              </p:ext>
            </p:extLst>
          </p:nvPr>
        </p:nvGraphicFramePr>
        <p:xfrm>
          <a:off x="3937579" y="2729397"/>
          <a:ext cx="4853818" cy="3483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6020">
                  <a:extLst>
                    <a:ext uri="{9D8B030D-6E8A-4147-A177-3AD203B41FA5}">
                      <a16:colId xmlns:a16="http://schemas.microsoft.com/office/drawing/2014/main" val="960943869"/>
                    </a:ext>
                  </a:extLst>
                </a:gridCol>
                <a:gridCol w="1957798">
                  <a:extLst>
                    <a:ext uri="{9D8B030D-6E8A-4147-A177-3AD203B41FA5}">
                      <a16:colId xmlns:a16="http://schemas.microsoft.com/office/drawing/2014/main" val="1575331872"/>
                    </a:ext>
                  </a:extLst>
                </a:gridCol>
              </a:tblGrid>
              <a:tr h="11612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cap="none" spc="0" dirty="0">
                          <a:solidFill>
                            <a:schemeClr val="tx1"/>
                          </a:solidFill>
                          <a:effectLst/>
                        </a:rPr>
                        <a:t>Md. Takbir Al </a:t>
                      </a:r>
                      <a:r>
                        <a:rPr lang="en-GB" sz="2400" b="1" cap="none" spc="0" dirty="0" err="1">
                          <a:solidFill>
                            <a:schemeClr val="tx1"/>
                          </a:solidFill>
                          <a:effectLst/>
                        </a:rPr>
                        <a:t>Tanim</a:t>
                      </a:r>
                      <a:endParaRPr lang="en-GB" sz="2400" b="1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2400" cap="none" spc="0" dirty="0">
                          <a:solidFill>
                            <a:schemeClr val="tx1"/>
                          </a:solidFill>
                          <a:effectLst/>
                        </a:rPr>
                        <a:t>2331694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292324"/>
                  </a:ext>
                </a:extLst>
              </a:tr>
              <a:tr h="11612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cap="none" spc="0" dirty="0">
                          <a:solidFill>
                            <a:schemeClr val="tx1"/>
                          </a:solidFill>
                          <a:effectLst/>
                        </a:rPr>
                        <a:t>Nujat-E- Hasnat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2400" cap="none" spc="0" dirty="0">
                          <a:solidFill>
                            <a:schemeClr val="tx1"/>
                          </a:solidFill>
                          <a:effectLst/>
                        </a:rPr>
                        <a:t>2330201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08955"/>
                  </a:ext>
                </a:extLst>
              </a:tr>
              <a:tr h="11612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cap="none" spc="0" dirty="0" err="1">
                          <a:solidFill>
                            <a:schemeClr val="tx1"/>
                          </a:solidFill>
                          <a:effectLst/>
                        </a:rPr>
                        <a:t>Tahura</a:t>
                      </a:r>
                      <a:r>
                        <a:rPr lang="en-GB" sz="2400" b="1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2400" b="1" cap="none" spc="0" dirty="0" err="1">
                          <a:solidFill>
                            <a:schemeClr val="tx1"/>
                          </a:solidFill>
                          <a:effectLst/>
                        </a:rPr>
                        <a:t>Anzum</a:t>
                      </a:r>
                      <a:r>
                        <a:rPr lang="en-GB" sz="2400" b="1" cap="none" spc="0" dirty="0">
                          <a:solidFill>
                            <a:schemeClr val="tx1"/>
                          </a:solidFill>
                          <a:effectLst/>
                        </a:rPr>
                        <a:t> Toa</a:t>
                      </a:r>
                      <a:endParaRPr lang="en-GB" sz="2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2400" cap="none" spc="0" dirty="0">
                          <a:solidFill>
                            <a:schemeClr val="tx1"/>
                          </a:solidFill>
                          <a:effectLst/>
                        </a:rPr>
                        <a:t>2230230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4451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r>
              <a:rPr lang="en-GB"/>
              <a:t>Introduction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Newspaper">
            <a:extLst>
              <a:ext uri="{FF2B5EF4-FFF2-40B4-BE49-F238E27FC236}">
                <a16:creationId xmlns:a16="http://schemas.microsoft.com/office/drawing/2014/main" id="{D1959F91-D938-2455-6D66-3BC6AD2F0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E94D32E-0296-8F4A-F0E0-9933D01B0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6300" y="2497257"/>
            <a:ext cx="3829048" cy="36797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Stock markets are influenced by news, investor sentiment, economic conditions, and global events.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Predicting prices is challenging due to noise, volatility, and sudden market shocks.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study predicts </a:t>
            </a:r>
            <a:r>
              <a:rPr kumimoji="0" lang="en-BD" altLang="en-BD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next-day closing prices</a:t>
            </a: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of BEXIMCO using: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Statistical tests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Machine Learning models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Deep learning (LSTM)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multi-stock XGBoost model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spans </a:t>
            </a:r>
            <a:r>
              <a:rPr kumimoji="0" lang="en-BD" altLang="en-BD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1999–2025</a:t>
            </a:r>
            <a:r>
              <a:rPr kumimoji="0" lang="en-BD" altLang="en-BD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covering major market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4300"/>
              <a:t>Research Objectives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83A37D4-1F23-15F9-6BEF-7F521F82FF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4813" y="552091"/>
            <a:ext cx="4668251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Analyze BEXIMCO’s price behavior using statistical methods.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Test for </a:t>
            </a:r>
            <a:r>
              <a:rPr kumimoji="0" lang="en-BD" altLang="en-BD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stationarity and structural breaks</a:t>
            </a: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 prediction performance of: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LSTM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Build a </a:t>
            </a:r>
            <a:r>
              <a:rPr kumimoji="0" lang="en-BD" altLang="en-BD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multi-stock learning model</a:t>
            </a: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XGBoost.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Evaluate which model performs best for short-term forecasting.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GB" sz="3500"/>
              <a:t>Literature Review (1)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614AA3-D4F4-0243-02F4-D7B7252B5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13797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GB" sz="2800"/>
              <a:t>Literature Review (2)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5D731B-3DA8-489D-14FB-13DE4D36A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685171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GB" sz="2800"/>
              <a:t>Data 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GB" sz="1600"/>
              <a:t>- DSE daily OHLC data (1999–2025).</a:t>
            </a:r>
          </a:p>
          <a:p>
            <a:r>
              <a:rPr lang="en-GB" sz="1600"/>
              <a:t>- Includes price, volume, trading code.</a:t>
            </a:r>
          </a:p>
          <a:p>
            <a:r>
              <a:rPr lang="en-GB" sz="1600"/>
              <a:t>- Covers 2010 crash, pandemic, reforms.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95948-276A-15B3-24A7-BB6591247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2937336"/>
            <a:ext cx="8373618" cy="3077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en-GB" sz="4700"/>
              <a:t>Data Cleaning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GB" sz="1900"/>
              <a:t>- Date sorting &amp; formatting.</a:t>
            </a:r>
          </a:p>
          <a:p>
            <a:r>
              <a:rPr lang="en-GB" sz="1900"/>
              <a:t>- Remove missing/zero-price rows.</a:t>
            </a:r>
          </a:p>
          <a:p>
            <a:r>
              <a:rPr lang="en-GB" sz="1900"/>
              <a:t>- Remove duplicates.</a:t>
            </a:r>
          </a:p>
          <a:p>
            <a:r>
              <a:rPr lang="en-GB" sz="1900"/>
              <a:t>- Clip outliers.</a:t>
            </a:r>
          </a:p>
          <a:p>
            <a:r>
              <a:rPr lang="en-GB" sz="1900"/>
              <a:t>- Final dataset: 6,179 rows.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FF8BC4-0CC8-6EA2-11E5-4463A651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1847605"/>
            <a:ext cx="4094226" cy="31627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GB" sz="4200"/>
              <a:t>Summary Statistics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GB" sz="1900"/>
              <a:t>- Log transform reduces skew.</a:t>
            </a:r>
          </a:p>
          <a:p>
            <a:r>
              <a:rPr lang="en-GB" sz="1900"/>
              <a:t>- Log Close mean = 4.17, SD = 1.59.</a:t>
            </a:r>
          </a:p>
          <a:p>
            <a:r>
              <a:rPr lang="en-GB" sz="1900"/>
              <a:t>- Log Vol mean = 10.42.</a:t>
            </a:r>
          </a:p>
          <a:p>
            <a:r>
              <a:rPr lang="en-GB" sz="1900"/>
              <a:t>- Strong price correlations (&gt;0.95).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251A6-01E5-DE15-5063-A8491E81C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3502946"/>
            <a:ext cx="8188452" cy="15353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GB" sz="4700"/>
              <a:t>Correlation Analysis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GB" sz="1900"/>
              <a:t>- Open/High/Low/Close highly correlated.</a:t>
            </a:r>
          </a:p>
          <a:p>
            <a:r>
              <a:rPr lang="en-GB" sz="1900"/>
              <a:t>- Volume weakly correlated.</a:t>
            </a:r>
          </a:p>
          <a:p>
            <a:r>
              <a:rPr lang="en-GB" sz="1900"/>
              <a:t>- Engineered features required.</a:t>
            </a:r>
          </a:p>
        </p:txBody>
      </p:sp>
      <p:pic>
        <p:nvPicPr>
          <p:cNvPr id="5" name="Picture 4" descr="A graph of numbers and columns&#10;&#10;AI-generated content may be incorrect.">
            <a:extLst>
              <a:ext uri="{FF2B5EF4-FFF2-40B4-BE49-F238E27FC236}">
                <a16:creationId xmlns:a16="http://schemas.microsoft.com/office/drawing/2014/main" id="{B96ECAD6-F89B-23FC-9617-5514C61F6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79" r="31742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Tests Overview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B492FDE-59B3-9A53-1AF6-0ED42C8BE3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en-GB" sz="4200"/>
              <a:t>Stationarity Results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r>
              <a:rPr lang="en-GB" sz="1900"/>
              <a:t>- Raw price non-stationary.</a:t>
            </a:r>
          </a:p>
          <a:p>
            <a:r>
              <a:rPr lang="en-GB" sz="1900"/>
              <a:t>- Log-differencing → stationary.</a:t>
            </a:r>
          </a:p>
          <a:p>
            <a:r>
              <a:rPr lang="en-GB" sz="1900"/>
              <a:t>- ADF p = 2.6e-30.</a:t>
            </a:r>
          </a:p>
        </p:txBody>
      </p:sp>
      <p:pic>
        <p:nvPicPr>
          <p:cNvPr id="4" name="Picture 3" descr="A blue sound wave with black lines&#10;&#10;AI-generated content may be incorrect.">
            <a:extLst>
              <a:ext uri="{FF2B5EF4-FFF2-40B4-BE49-F238E27FC236}">
                <a16:creationId xmlns:a16="http://schemas.microsoft.com/office/drawing/2014/main" id="{598792F8-E499-D7CA-CE0C-DD375D913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" y="3499202"/>
            <a:ext cx="4101084" cy="1819460"/>
          </a:xfrm>
          <a:prstGeom prst="rect">
            <a:avLst/>
          </a:prstGeom>
        </p:spPr>
      </p:pic>
      <p:pic>
        <p:nvPicPr>
          <p:cNvPr id="5" name="Picture 4" descr="A graph showing a line of blue and orange lines&#10;&#10;AI-generated content may be incorrect.">
            <a:extLst>
              <a:ext uri="{FF2B5EF4-FFF2-40B4-BE49-F238E27FC236}">
                <a16:creationId xmlns:a16="http://schemas.microsoft.com/office/drawing/2014/main" id="{684982D2-B7F5-1FA8-E16F-51201A2B2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532325"/>
            <a:ext cx="4101084" cy="17532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/>
              <a:t>Structural Break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GB" sz="2100"/>
              <a:t>CUSUM results:</a:t>
            </a:r>
          </a:p>
          <a:p>
            <a:r>
              <a:rPr lang="en-GB" sz="2100"/>
              <a:t>Statistic ≈ </a:t>
            </a:r>
            <a:r>
              <a:rPr lang="en-GB" sz="2100" b="1"/>
              <a:t>7.29</a:t>
            </a:r>
            <a:endParaRPr lang="en-GB" sz="2100"/>
          </a:p>
          <a:p>
            <a:r>
              <a:rPr lang="en-GB" sz="2100"/>
              <a:t>p-value → </a:t>
            </a:r>
            <a:r>
              <a:rPr lang="en-GB" sz="2100" b="1"/>
              <a:t>1.38 × 10⁻⁴⁶</a:t>
            </a:r>
            <a:endParaRPr lang="en-GB" sz="2100"/>
          </a:p>
          <a:p>
            <a:r>
              <a:rPr lang="en-GB" sz="2100"/>
              <a:t>Strong evidence of instability</a:t>
            </a:r>
            <a:br>
              <a:rPr lang="en-GB" sz="2100"/>
            </a:br>
            <a:r>
              <a:rPr lang="en-GB" sz="2100"/>
              <a:t>Interpretation:</a:t>
            </a:r>
          </a:p>
          <a:p>
            <a:r>
              <a:rPr lang="en-GB" sz="2100"/>
              <a:t>Market crashes and policy shifts created structural breaks</a:t>
            </a:r>
          </a:p>
          <a:p>
            <a:r>
              <a:rPr lang="en-GB" sz="2100"/>
              <a:t>Models must handle changing relationships over time</a:t>
            </a:r>
          </a:p>
          <a:p>
            <a:endParaRPr lang="en-GB" sz="21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ar Graph with Downward Trend">
            <a:extLst>
              <a:ext uri="{FF2B5EF4-FFF2-40B4-BE49-F238E27FC236}">
                <a16:creationId xmlns:a16="http://schemas.microsoft.com/office/drawing/2014/main" id="{DAD92A17-7510-B514-2374-3D0A5005C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GB" sz="2100"/>
              <a:t>Engineered features include:</a:t>
            </a:r>
          </a:p>
          <a:p>
            <a:r>
              <a:rPr lang="en-GB" sz="2100"/>
              <a:t>SMA7, SMA14</a:t>
            </a:r>
          </a:p>
          <a:p>
            <a:r>
              <a:rPr lang="en-GB" sz="2100"/>
              <a:t>EMA14</a:t>
            </a:r>
          </a:p>
          <a:p>
            <a:r>
              <a:rPr lang="en-GB" sz="2100"/>
              <a:t>Daily returns</a:t>
            </a:r>
          </a:p>
          <a:p>
            <a:r>
              <a:rPr lang="en-GB" sz="2100"/>
              <a:t>Volume change</a:t>
            </a:r>
          </a:p>
          <a:p>
            <a:r>
              <a:rPr lang="en-GB" sz="2100"/>
              <a:t>Lagged features (Lag1, Lag3, Lag7)</a:t>
            </a:r>
            <a:br>
              <a:rPr lang="en-GB" sz="2100"/>
            </a:br>
            <a:r>
              <a:rPr lang="en-GB" sz="2100"/>
              <a:t>Purpose: Improve predictive power and capture market behavior.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laybook">
            <a:extLst>
              <a:ext uri="{FF2B5EF4-FFF2-40B4-BE49-F238E27FC236}">
                <a16:creationId xmlns:a16="http://schemas.microsoft.com/office/drawing/2014/main" id="{F9079475-7B3E-9AAE-77B4-6B7182E68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/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GB" sz="2100" dirty="0"/>
              <a:t>Baseline + ML + DL:</a:t>
            </a:r>
          </a:p>
          <a:p>
            <a:r>
              <a:rPr lang="en-GB" sz="2100" b="1" dirty="0"/>
              <a:t>OLS Regression</a:t>
            </a:r>
            <a:r>
              <a:rPr lang="en-GB" sz="2100" dirty="0"/>
              <a:t> → tests linearity</a:t>
            </a:r>
          </a:p>
          <a:p>
            <a:r>
              <a:rPr lang="en-GB" sz="2100" b="1" dirty="0"/>
              <a:t>Random Forest</a:t>
            </a:r>
            <a:r>
              <a:rPr lang="en-GB" sz="2100" dirty="0"/>
              <a:t> → handles nonlinear patterns</a:t>
            </a:r>
          </a:p>
          <a:p>
            <a:r>
              <a:rPr lang="en-GB" sz="2100" b="1" dirty="0" err="1"/>
              <a:t>XGBoost</a:t>
            </a:r>
            <a:r>
              <a:rPr lang="en-GB" sz="2100" dirty="0"/>
              <a:t> → gradient boosting, powerful for tabular data</a:t>
            </a:r>
          </a:p>
          <a:p>
            <a:r>
              <a:rPr lang="en-GB" sz="2100" b="1" dirty="0"/>
              <a:t>LSTM</a:t>
            </a:r>
            <a:r>
              <a:rPr lang="en-GB" sz="2100" dirty="0"/>
              <a:t> → captures temporal sequences</a:t>
            </a:r>
          </a:p>
          <a:p>
            <a:r>
              <a:rPr lang="en-GB" sz="2100" dirty="0"/>
              <a:t>Each model predicts </a:t>
            </a:r>
            <a:r>
              <a:rPr lang="en-GB" sz="2100" b="1" dirty="0"/>
              <a:t>next-day closing price</a:t>
            </a:r>
            <a:r>
              <a:rPr lang="en-GB" sz="2100" dirty="0"/>
              <a:t>.</a:t>
            </a:r>
          </a:p>
          <a:p>
            <a:endParaRPr lang="en-GB" sz="2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8A41A9DB-653F-F201-60E8-FB57E27C2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Training Setup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44BF4F-9DFD-DFA4-6E9A-D86F10A5FA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29384"/>
            <a:ext cx="78867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Train-test split: </a:t>
            </a:r>
            <a:r>
              <a:rPr kumimoji="0" lang="en-BD" altLang="en-BD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70% train, 30% test</a:t>
            </a:r>
            <a:endParaRPr kumimoji="0" lang="en-BD" altLang="en-BD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StandardScaler applied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Evaluation metrics: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R²</a:t>
            </a:r>
            <a:endParaRPr kumimoji="0" lang="en-BD" altLang="en-BD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RMSE</a:t>
            </a:r>
            <a:endParaRPr kumimoji="0" lang="en-BD" altLang="en-BD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BD" altLang="en-BD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LSTM uses rolling windows of previous </a:t>
            </a:r>
            <a:r>
              <a:rPr kumimoji="0" lang="en-BD" altLang="en-BD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30 days</a:t>
            </a:r>
            <a:endParaRPr kumimoji="0" lang="en-BD" altLang="en-BD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4346" y="638089"/>
            <a:ext cx="3614166" cy="147680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700"/>
              <a:t>Model Results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346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346" y="2664886"/>
            <a:ext cx="3614166" cy="3550789"/>
          </a:xfrm>
        </p:spPr>
        <p:txBody>
          <a:bodyPr anchor="t">
            <a:normAutofit/>
          </a:bodyPr>
          <a:lstStyle/>
          <a:p>
            <a:r>
              <a:rPr lang="en-GB" sz="1900"/>
              <a:t>OLS: R²=0.9642, RMSE=9.35 (best)</a:t>
            </a:r>
          </a:p>
          <a:p>
            <a:r>
              <a:rPr lang="en-GB" sz="1900"/>
              <a:t>RF: Overfits mildly</a:t>
            </a:r>
          </a:p>
          <a:p>
            <a:r>
              <a:rPr lang="en-GB" sz="1900"/>
              <a:t>XGB: Overfits strongly</a:t>
            </a:r>
          </a:p>
          <a:p>
            <a:r>
              <a:rPr lang="en-GB" sz="1900"/>
              <a:t>LSTM: Moderate accuracy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008E1F-0DBD-AF59-53CE-7C5CBF286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49495"/>
              </p:ext>
            </p:extLst>
          </p:nvPr>
        </p:nvGraphicFramePr>
        <p:xfrm>
          <a:off x="300942" y="2623606"/>
          <a:ext cx="4266487" cy="238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057">
                  <a:extLst>
                    <a:ext uri="{9D8B030D-6E8A-4147-A177-3AD203B41FA5}">
                      <a16:colId xmlns:a16="http://schemas.microsoft.com/office/drawing/2014/main" val="3156266216"/>
                    </a:ext>
                  </a:extLst>
                </a:gridCol>
                <a:gridCol w="993918">
                  <a:extLst>
                    <a:ext uri="{9D8B030D-6E8A-4147-A177-3AD203B41FA5}">
                      <a16:colId xmlns:a16="http://schemas.microsoft.com/office/drawing/2014/main" val="3935068167"/>
                    </a:ext>
                  </a:extLst>
                </a:gridCol>
                <a:gridCol w="801789">
                  <a:extLst>
                    <a:ext uri="{9D8B030D-6E8A-4147-A177-3AD203B41FA5}">
                      <a16:colId xmlns:a16="http://schemas.microsoft.com/office/drawing/2014/main" val="91201997"/>
                    </a:ext>
                  </a:extLst>
                </a:gridCol>
                <a:gridCol w="938934">
                  <a:extLst>
                    <a:ext uri="{9D8B030D-6E8A-4147-A177-3AD203B41FA5}">
                      <a16:colId xmlns:a16="http://schemas.microsoft.com/office/drawing/2014/main" val="2612023135"/>
                    </a:ext>
                  </a:extLst>
                </a:gridCol>
                <a:gridCol w="801789">
                  <a:extLst>
                    <a:ext uri="{9D8B030D-6E8A-4147-A177-3AD203B41FA5}">
                      <a16:colId xmlns:a16="http://schemas.microsoft.com/office/drawing/2014/main" val="4030811232"/>
                    </a:ext>
                  </a:extLst>
                </a:gridCol>
              </a:tblGrid>
              <a:tr h="6416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cap="none" spc="6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cap="none" spc="60">
                          <a:solidFill>
                            <a:schemeClr val="bg1"/>
                          </a:solidFill>
                          <a:effectLst/>
                        </a:rPr>
                        <a:t>Training R²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cap="none" spc="60">
                          <a:solidFill>
                            <a:schemeClr val="bg1"/>
                          </a:solidFill>
                          <a:effectLst/>
                        </a:rPr>
                        <a:t>Training RMSE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cap="none" spc="60">
                          <a:solidFill>
                            <a:schemeClr val="bg1"/>
                          </a:solidFill>
                          <a:effectLst/>
                        </a:rPr>
                        <a:t>Testing R²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cap="none" spc="60">
                          <a:solidFill>
                            <a:schemeClr val="bg1"/>
                          </a:solidFill>
                          <a:effectLst/>
                        </a:rPr>
                        <a:t>Testing RMSE</a:t>
                      </a:r>
                    </a:p>
                  </a:txBody>
                  <a:tcPr marL="51750" marR="51750" marT="51750" marB="25874" anchor="ctr"/>
                </a:tc>
                <a:extLst>
                  <a:ext uri="{0D108BD9-81ED-4DB2-BD59-A6C34878D82A}">
                    <a16:rowId xmlns:a16="http://schemas.microsoft.com/office/drawing/2014/main" val="2067596090"/>
                  </a:ext>
                </a:extLst>
              </a:tr>
              <a:tr h="3826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000" cap="none" spc="0">
                          <a:solidFill>
                            <a:schemeClr val="tx1"/>
                          </a:solidFill>
                          <a:effectLst/>
                        </a:rPr>
                        <a:t>OLS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0.965868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17.082000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0.964192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9.345098</a:t>
                      </a:r>
                    </a:p>
                  </a:txBody>
                  <a:tcPr marL="51750" marR="51750" marT="51750" marB="25874" anchor="ctr"/>
                </a:tc>
                <a:extLst>
                  <a:ext uri="{0D108BD9-81ED-4DB2-BD59-A6C34878D82A}">
                    <a16:rowId xmlns:a16="http://schemas.microsoft.com/office/drawing/2014/main" val="4061361482"/>
                  </a:ext>
                </a:extLst>
              </a:tr>
              <a:tr h="5984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000" cap="none" spc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0.995592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 dirty="0">
                          <a:solidFill>
                            <a:schemeClr val="tx1"/>
                          </a:solidFill>
                          <a:effectLst/>
                        </a:rPr>
                        <a:t>6.138985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0.899617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15.646742</a:t>
                      </a:r>
                    </a:p>
                  </a:txBody>
                  <a:tcPr marL="51750" marR="51750" marT="51750" marB="25874" anchor="ctr"/>
                </a:tc>
                <a:extLst>
                  <a:ext uri="{0D108BD9-81ED-4DB2-BD59-A6C34878D82A}">
                    <a16:rowId xmlns:a16="http://schemas.microsoft.com/office/drawing/2014/main" val="1995951030"/>
                  </a:ext>
                </a:extLst>
              </a:tr>
              <a:tr h="3826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000" cap="none" spc="0" err="1">
                          <a:solidFill>
                            <a:schemeClr val="tx1"/>
                          </a:solidFill>
                          <a:effectLst/>
                        </a:rPr>
                        <a:t>XGBoost</a:t>
                      </a:r>
                      <a:endParaRPr lang="en-GB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0.998406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3.692045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0.748851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24.749057</a:t>
                      </a:r>
                    </a:p>
                  </a:txBody>
                  <a:tcPr marL="51750" marR="51750" marT="51750" marB="25874" anchor="ctr"/>
                </a:tc>
                <a:extLst>
                  <a:ext uri="{0D108BD9-81ED-4DB2-BD59-A6C34878D82A}">
                    <a16:rowId xmlns:a16="http://schemas.microsoft.com/office/drawing/2014/main" val="4140125870"/>
                  </a:ext>
                </a:extLst>
              </a:tr>
              <a:tr h="3826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000" cap="none" spc="0">
                          <a:solidFill>
                            <a:schemeClr val="tx1"/>
                          </a:solidFill>
                          <a:effectLst/>
                        </a:rPr>
                        <a:t>LSTM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0.941047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22.502635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>
                          <a:solidFill>
                            <a:schemeClr val="tx1"/>
                          </a:solidFill>
                          <a:effectLst/>
                        </a:rPr>
                        <a:t>0.787535</a:t>
                      </a:r>
                    </a:p>
                  </a:txBody>
                  <a:tcPr marL="51750" marR="51750" marT="51750" marB="2587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BD" sz="1000" cap="none" spc="0" dirty="0">
                          <a:solidFill>
                            <a:schemeClr val="tx1"/>
                          </a:solidFill>
                          <a:effectLst/>
                        </a:rPr>
                        <a:t>22.782882</a:t>
                      </a:r>
                    </a:p>
                  </a:txBody>
                  <a:tcPr marL="51750" marR="51750" marT="51750" marB="25874" anchor="ctr"/>
                </a:tc>
                <a:extLst>
                  <a:ext uri="{0D108BD9-81ED-4DB2-BD59-A6C34878D82A}">
                    <a16:rowId xmlns:a16="http://schemas.microsoft.com/office/drawing/2014/main" val="31877691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325" y="-376123"/>
            <a:ext cx="4663669" cy="1616203"/>
          </a:xfrm>
        </p:spPr>
        <p:txBody>
          <a:bodyPr anchor="b">
            <a:normAutofit/>
          </a:bodyPr>
          <a:lstStyle/>
          <a:p>
            <a:r>
              <a:rPr lang="en-GB" sz="2800" dirty="0"/>
              <a:t>Prediction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365" y="2533476"/>
            <a:ext cx="3262442" cy="344783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 b="1" dirty="0"/>
              <a:t>OLS: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Follows actual values closely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Smooth and accurate</a:t>
            </a:r>
          </a:p>
          <a:p>
            <a:pPr>
              <a:lnSpc>
                <a:spcPct val="90000"/>
              </a:lnSpc>
            </a:pPr>
            <a:r>
              <a:rPr lang="en-GB" sz="1600" b="1" dirty="0"/>
              <a:t>RF</a:t>
            </a:r>
            <a:r>
              <a:rPr lang="en-GB" sz="1600" dirty="0"/>
              <a:t>: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Captures nonlinearity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Noisy predictions</a:t>
            </a:r>
          </a:p>
          <a:p>
            <a:pPr>
              <a:lnSpc>
                <a:spcPct val="90000"/>
              </a:lnSpc>
            </a:pPr>
            <a:r>
              <a:rPr lang="en-GB" sz="1600" b="1" dirty="0" err="1"/>
              <a:t>XGBoost</a:t>
            </a:r>
            <a:r>
              <a:rPr lang="en-GB" sz="1600" dirty="0"/>
              <a:t>: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Overreacts to volatility</a:t>
            </a:r>
          </a:p>
          <a:p>
            <a:pPr>
              <a:lnSpc>
                <a:spcPct val="90000"/>
              </a:lnSpc>
            </a:pPr>
            <a:r>
              <a:rPr lang="en-GB" sz="1600" b="1" dirty="0"/>
              <a:t>LSTM</a:t>
            </a:r>
            <a:r>
              <a:rPr lang="en-GB" sz="1600" dirty="0"/>
              <a:t>: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Tracks long-term trend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Struggles with sudden changes</a:t>
            </a:r>
          </a:p>
          <a:p>
            <a:pPr>
              <a:lnSpc>
                <a:spcPct val="90000"/>
              </a:lnSpc>
            </a:pPr>
            <a:endParaRPr lang="en-GB" sz="1600" dirty="0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9AC7C8AB-B895-C82B-EC35-5597EB7D7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2" r="2492" b="-5"/>
          <a:stretch>
            <a:fillRect/>
          </a:stretch>
        </p:blipFill>
        <p:spPr bwMode="auto">
          <a:xfrm>
            <a:off x="3073839" y="1915300"/>
            <a:ext cx="2996322" cy="177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1E52A4C9-99EC-D0C2-9A43-9F7A8C16A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9" r="2004" b="-5"/>
          <a:stretch>
            <a:fillRect/>
          </a:stretch>
        </p:blipFill>
        <p:spPr bwMode="auto">
          <a:xfrm>
            <a:off x="6011621" y="1915300"/>
            <a:ext cx="2995717" cy="177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C639804-DFB7-6162-B19C-EBB230CA5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8" r="2095" b="-5"/>
          <a:stretch>
            <a:fillRect/>
          </a:stretch>
        </p:blipFill>
        <p:spPr bwMode="auto">
          <a:xfrm>
            <a:off x="3073839" y="3477620"/>
            <a:ext cx="2996322" cy="177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BD7C89C-F185-9828-0933-0F78D44DB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9" r="-5" b="-5"/>
          <a:stretch>
            <a:fillRect/>
          </a:stretch>
        </p:blipFill>
        <p:spPr bwMode="auto">
          <a:xfrm>
            <a:off x="6011918" y="3477955"/>
            <a:ext cx="2995718" cy="177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42" name="Group 4141">
            <a:extLst>
              <a:ext uri="{FF2B5EF4-FFF2-40B4-BE49-F238E27FC236}">
                <a16:creationId xmlns:a16="http://schemas.microsoft.com/office/drawing/2014/main" id="{32CC9F2B-E219-AF55-BBE8-372B5AC60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737460"/>
            <a:ext cx="9144000" cy="123364"/>
            <a:chOff x="1" y="6737460"/>
            <a:chExt cx="12192000" cy="123364"/>
          </a:xfrm>
        </p:grpSpPr>
        <p:sp>
          <p:nvSpPr>
            <p:cNvPr id="4143" name="Rectangle 4142">
              <a:extLst>
                <a:ext uri="{FF2B5EF4-FFF2-40B4-BE49-F238E27FC236}">
                  <a16:creationId xmlns:a16="http://schemas.microsoft.com/office/drawing/2014/main" id="{E456E449-1EFC-16B5-CB11-7E6A8BBBC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4" name="Rectangle 4143">
              <a:extLst>
                <a:ext uri="{FF2B5EF4-FFF2-40B4-BE49-F238E27FC236}">
                  <a16:creationId xmlns:a16="http://schemas.microsoft.com/office/drawing/2014/main" id="{1E734DB8-CD27-D04F-74D4-3AC47BA0B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713" y="741391"/>
            <a:ext cx="2582636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Combined Comparison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4F3D216-FDD3-DBE7-70B9-E7C0E3CA1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452" y="2038755"/>
            <a:ext cx="5385010" cy="304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2713" y="2533476"/>
            <a:ext cx="2582636" cy="3447832"/>
          </a:xfrm>
        </p:spPr>
        <p:txBody>
          <a:bodyPr anchor="t">
            <a:normAutofit/>
          </a:bodyPr>
          <a:lstStyle/>
          <a:p>
            <a:r>
              <a:rPr lang="en-GB" sz="1700"/>
              <a:t>OLS most accurate</a:t>
            </a:r>
          </a:p>
          <a:p>
            <a:r>
              <a:rPr lang="en-GB" sz="1700"/>
              <a:t>RF moderate accuracy</a:t>
            </a:r>
          </a:p>
          <a:p>
            <a:r>
              <a:rPr lang="en-GB" sz="1700"/>
              <a:t>XGBoost unstable</a:t>
            </a:r>
          </a:p>
          <a:p>
            <a:r>
              <a:rPr lang="en-GB" sz="1700"/>
              <a:t>LSTM lagging turns</a:t>
            </a:r>
          </a:p>
        </p:txBody>
      </p:sp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5128" name="Rectangle 5127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9" name="Rectangle 5128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Multi-Stock XGBoost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EFC2D-9886-D567-5357-F26C01966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36169"/>
            <a:ext cx="3989297" cy="351058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D854F5-1C96-965D-3FC9-73A8CBCA9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262332"/>
              </p:ext>
            </p:extLst>
          </p:nvPr>
        </p:nvGraphicFramePr>
        <p:xfrm>
          <a:off x="657519" y="2533476"/>
          <a:ext cx="3448310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BEXIMCO Multi-Stock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Tracks long-term movement.</a:t>
            </a:r>
          </a:p>
          <a:p>
            <a:r>
              <a:t>- Captures trends.</a:t>
            </a:r>
          </a:p>
          <a:p>
            <a:r>
              <a:t>- Short-term movements harder.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C0A2999-EB5C-37F1-A45A-C6FC07645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1075"/>
            <a:ext cx="914400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2FC80C-40C0-9CCC-F697-B6DFD3C183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GB" sz="7000"/>
              <a:t>Future Work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A59C23-55EE-90AF-4351-95186E218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69121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98B7A-060B-A5F6-4C04-C2E62F7A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BD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B4F29-84F2-9FD9-0706-E60854E13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BD" sz="1300" dirty="0"/>
              <a:t>Reference: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[1] A. Bhavani, A. V. Ramana, and A. S. N. Chakravarthy, “Comparative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analysis between LSTM and GRU in stock price prediction,” in Proc.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2022 Int. Conf. Edge </a:t>
            </a:r>
            <a:r>
              <a:rPr lang="en-GB" sz="1300" dirty="0" err="1"/>
              <a:t>Comput</a:t>
            </a:r>
            <a:r>
              <a:rPr lang="en-GB" sz="1300" dirty="0"/>
              <a:t>. Appl. (ICECAA), 2022, pp. 532–537.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[2] B. Nagendra and G. Singh, “Comparing ARIMA, linear regression,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random forest, and LSTM for time series forecasting: A study on item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stock predictions,” in Proc. 2023 4th IEEE Global Conf. Advancement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in Technology (GCAT), 2023, pp. 1–8.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[3] C. </a:t>
            </a:r>
            <a:r>
              <a:rPr lang="en-GB" sz="1300" dirty="0" err="1"/>
              <a:t>Umezuruike</a:t>
            </a:r>
            <a:r>
              <a:rPr lang="en-GB" sz="1300" dirty="0"/>
              <a:t>, D. Olaniyan, J. Olaniyan, A. E. Adeniyi, A. </a:t>
            </a:r>
            <a:r>
              <a:rPr lang="en-GB" sz="1300" dirty="0" err="1"/>
              <a:t>Oyebade</a:t>
            </a:r>
            <a:r>
              <a:rPr lang="en-GB" sz="1300" dirty="0"/>
              <a:t>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and D. </a:t>
            </a:r>
            <a:r>
              <a:rPr lang="en-GB" sz="1300" dirty="0" err="1"/>
              <a:t>Abaneme</a:t>
            </a:r>
            <a:r>
              <a:rPr lang="en-GB" sz="1300" dirty="0"/>
              <a:t>, “Comparative analysis of long short-term memory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(LSTM), gated recurrent unit (GRU) and transformer models in predict-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 err="1"/>
              <a:t>ing</a:t>
            </a:r>
            <a:r>
              <a:rPr lang="en-GB" sz="1300" dirty="0"/>
              <a:t> stock prices,” in Proc. 2024 IEEE 5th Int. Conf. Electro-Computing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Technol. for Humanity (NIGERCON), 2024, pp. 1–6.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[4] M. R. Hasan, F. Sultana, H. O. Rashid, T. K. </a:t>
            </a:r>
            <a:r>
              <a:rPr lang="en-GB" sz="1300" dirty="0" err="1"/>
              <a:t>Abdulwasea</a:t>
            </a:r>
            <a:r>
              <a:rPr lang="en-GB" sz="1300" dirty="0"/>
              <a:t>, and S. Raza,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“Bridging stock price data and technical features for stock forecasting: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A comparative study of </a:t>
            </a:r>
            <a:r>
              <a:rPr lang="en-GB" sz="1300" dirty="0" err="1"/>
              <a:t>BiLSTM</a:t>
            </a:r>
            <a:r>
              <a:rPr lang="en-GB" sz="1300" dirty="0"/>
              <a:t>, CNN &amp; GRU models,” in Proc. 2025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9th Int. Symp. Innovative Approaches in Smart Technol. (ISAS), 2025,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pp. 1–6.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[5] S. Deng, X. Huang, Y. Zhu, Z. Su, Z. Fu, and T. Shimada, “Stock index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direction forecasting using an explainable </a:t>
            </a:r>
            <a:r>
              <a:rPr lang="en-GB" sz="1300" dirty="0" err="1"/>
              <a:t>eXtreme</a:t>
            </a:r>
            <a:r>
              <a:rPr lang="en-GB" sz="1300" dirty="0"/>
              <a:t> Gradient Boosting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and investor sentiments,” North Am. J. Econ. Finance, vol. 64, p. 101848,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dirty="0"/>
              <a:t>2023.</a:t>
            </a:r>
            <a:endParaRPr lang="en-BD" sz="1300" dirty="0"/>
          </a:p>
        </p:txBody>
      </p:sp>
    </p:spTree>
    <p:extLst>
      <p:ext uri="{BB962C8B-B14F-4D97-AF65-F5344CB8AC3E}">
        <p14:creationId xmlns:p14="http://schemas.microsoft.com/office/powerpoint/2010/main" val="1516665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1060</Words>
  <Application>Microsoft Office PowerPoint</Application>
  <PresentationFormat>On-screen Show (4:3)</PresentationFormat>
  <Paragraphs>188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.AppleSystemUIFont</vt:lpstr>
      <vt:lpstr>Arial</vt:lpstr>
      <vt:lpstr>Calibri</vt:lpstr>
      <vt:lpstr>Office Theme</vt:lpstr>
      <vt:lpstr>Stock Price Prediction of BEXIMCO</vt:lpstr>
      <vt:lpstr>Introduction</vt:lpstr>
      <vt:lpstr>Research Objectives</vt:lpstr>
      <vt:lpstr>Literature Review (1)</vt:lpstr>
      <vt:lpstr>Literature Review (2)</vt:lpstr>
      <vt:lpstr>Data Source</vt:lpstr>
      <vt:lpstr>Data Cleaning</vt:lpstr>
      <vt:lpstr>Summary Statistics</vt:lpstr>
      <vt:lpstr>Correlation Analysis</vt:lpstr>
      <vt:lpstr>Statistical Tests Overview</vt:lpstr>
      <vt:lpstr>Stationarity Results</vt:lpstr>
      <vt:lpstr>Structural Break Test</vt:lpstr>
      <vt:lpstr>Feature Engineering</vt:lpstr>
      <vt:lpstr>Models Used</vt:lpstr>
      <vt:lpstr>Training Setup</vt:lpstr>
      <vt:lpstr>Model Results</vt:lpstr>
      <vt:lpstr>Prediction Visualization</vt:lpstr>
      <vt:lpstr>Combined Comparison</vt:lpstr>
      <vt:lpstr>Multi-Stock XGBoost</vt:lpstr>
      <vt:lpstr>BEXIMCO Multi-Stock Results</vt:lpstr>
      <vt:lpstr>Conclusion</vt:lpstr>
      <vt:lpstr>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Prediction of BEXIMCO</dc:title>
  <dc:subject/>
  <dc:creator>Arpy</dc:creator>
  <cp:keywords/>
  <dc:description>generated using python-pptx</dc:description>
  <cp:lastModifiedBy>Nujat-E- Hasnat</cp:lastModifiedBy>
  <cp:revision>6</cp:revision>
  <dcterms:created xsi:type="dcterms:W3CDTF">2013-01-27T09:14:16Z</dcterms:created>
  <dcterms:modified xsi:type="dcterms:W3CDTF">2026-03-13T08:10:04Z</dcterms:modified>
  <cp:category/>
</cp:coreProperties>
</file>